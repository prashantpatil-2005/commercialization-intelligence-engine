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9" r:id="rId4"/>
    <p:sldId id="257" r:id="rId5"/>
    <p:sldId id="263" r:id="rId6"/>
    <p:sldId id="258" r:id="rId7"/>
    <p:sldId id="264" r:id="rId8"/>
    <p:sldId id="259" r:id="rId9"/>
    <p:sldId id="260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15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44614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3800" b="1">
                <a:solidFill>
                  <a:srgbClr val="1A1A1A"/>
                </a:solidFill>
                <a:latin typeface="Calibri"/>
              </a:defRPr>
            </a:pPr>
            <a:r>
              <a:rPr dirty="0"/>
              <a:t>Commercialization Intelligence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2895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40000"/>
              </a:lnSpc>
              <a:defRPr sz="1500" b="0" i="0">
                <a:solidFill>
                  <a:srgbClr val="3D4452"/>
                </a:solidFill>
                <a:latin typeface="Calibri"/>
              </a:defRPr>
            </a:pPr>
            <a:r>
              <a:rPr lang="en-US" sz="1600" dirty="0"/>
              <a:t>An AI/ML decision-support system that tells innovation teams</a:t>
            </a:r>
            <a:br>
              <a:rPr lang="en-US" sz="1600" dirty="0"/>
            </a:br>
            <a:r>
              <a:rPr lang="en-US" sz="1600" dirty="0"/>
              <a:t>which product concepts deserve engineering investment and why.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18607" y="3910944"/>
            <a:ext cx="1554480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rPr dirty="0"/>
              <a:t>Prashant Patil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300" b="0">
                <a:solidFill>
                  <a:srgbClr val="999999"/>
                </a:solidFill>
                <a:latin typeface="Calibri"/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rPr dirty="0"/>
              <a:t>1 / 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89AB87-6F59-F4E1-B598-3EDB2E750551}"/>
              </a:ext>
            </a:extLst>
          </p:cNvPr>
          <p:cNvSpPr txBox="1"/>
          <p:nvPr/>
        </p:nvSpPr>
        <p:spPr>
          <a:xfrm>
            <a:off x="516193" y="1262978"/>
            <a:ext cx="102599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999999"/>
                </a:solidFill>
                <a:latin typeface="Calibri"/>
              </a:defRPr>
            </a:pPr>
            <a:r>
              <a:rPr lang="en-IN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Case Study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19DAB-B96F-4388-9FAE-F39FFA9F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9931B1-3A38-68EE-A334-ED4FB225F148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653D3A-7A5D-3A17-2F10-8E86466E2737}"/>
              </a:ext>
            </a:extLst>
          </p:cNvPr>
          <p:cNvSpPr txBox="1"/>
          <p:nvPr/>
        </p:nvSpPr>
        <p:spPr>
          <a:xfrm>
            <a:off x="1539240" y="1002989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3800" b="1">
                <a:solidFill>
                  <a:srgbClr val="1A1A1A"/>
                </a:solidFill>
                <a:latin typeface="Calibri"/>
              </a:defRPr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368AF-9006-E126-59EB-727FBF60E2C9}"/>
              </a:ext>
            </a:extLst>
          </p:cNvPr>
          <p:cNvSpPr txBox="1"/>
          <p:nvPr/>
        </p:nvSpPr>
        <p:spPr>
          <a:xfrm>
            <a:off x="609905" y="3399996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072D8D-68AB-3FB6-A104-1C2D928C712D}"/>
              </a:ext>
            </a:extLst>
          </p:cNvPr>
          <p:cNvSpPr txBox="1"/>
          <p:nvPr/>
        </p:nvSpPr>
        <p:spPr>
          <a:xfrm>
            <a:off x="-511278" y="3749041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300" b="0">
                <a:solidFill>
                  <a:srgbClr val="999999"/>
                </a:solidFill>
                <a:latin typeface="Calibri"/>
              </a:defRPr>
            </a:pP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882084-8B2B-FA64-2822-0C8111E127D2}"/>
              </a:ext>
            </a:extLst>
          </p:cNvPr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rPr dirty="0"/>
              <a:t>1 / 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BFEF00-18A8-D5E0-AF23-3DCBE2D0A319}"/>
              </a:ext>
            </a:extLst>
          </p:cNvPr>
          <p:cNvSpPr txBox="1"/>
          <p:nvPr/>
        </p:nvSpPr>
        <p:spPr>
          <a:xfrm>
            <a:off x="6995160" y="114300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1" i="0">
                <a:solidFill>
                  <a:srgbClr val="C86A1E"/>
                </a:solidFill>
                <a:latin typeface="Calibri"/>
              </a:defRPr>
            </a:pPr>
            <a:endParaRPr spc="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C880CA-B509-BA26-4A68-F9F7325CDDD4}"/>
              </a:ext>
            </a:extLst>
          </p:cNvPr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1" i="0">
                <a:solidFill>
                  <a:srgbClr val="C86A1E"/>
                </a:solidFill>
                <a:latin typeface="Calibri"/>
              </a:defRPr>
            </a:pPr>
            <a:r>
              <a:rPr spc="300" dirty="0"/>
              <a:t>WHAT CIE DOES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8E635C-E1EB-79A3-DDEE-4D7507325470}"/>
              </a:ext>
            </a:extLst>
          </p:cNvPr>
          <p:cNvSpPr txBox="1"/>
          <p:nvPr/>
        </p:nvSpPr>
        <p:spPr>
          <a:xfrm>
            <a:off x="548640" y="1005840"/>
            <a:ext cx="5783334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0"/>
              </a:spcAft>
              <a:defRPr sz="3200" b="1" i="0">
                <a:solidFill>
                  <a:srgbClr val="1B1F2A"/>
                </a:solidFill>
                <a:latin typeface="Georgia"/>
              </a:defRPr>
            </a:pPr>
            <a:r>
              <a:rPr lang="en-IN" dirty="0"/>
              <a:t>It’s</a:t>
            </a:r>
            <a:r>
              <a:rPr dirty="0"/>
              <a:t> decision engine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F94EB4-B6A2-ECCD-2AB3-6DBFF527E6EE}"/>
              </a:ext>
            </a:extLst>
          </p:cNvPr>
          <p:cNvSpPr txBox="1"/>
          <p:nvPr/>
        </p:nvSpPr>
        <p:spPr>
          <a:xfrm>
            <a:off x="550011" y="1745030"/>
            <a:ext cx="6583680" cy="1773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45000"/>
              </a:lnSpc>
              <a:spcAft>
                <a:spcPts val="0"/>
              </a:spcAft>
              <a:defRPr sz="1350" b="0" i="0">
                <a:solidFill>
                  <a:srgbClr val="3D4452"/>
                </a:solidFill>
                <a:latin typeface="Calibri"/>
              </a:defRPr>
            </a:pPr>
            <a:r>
              <a:rPr sz="2000" dirty="0"/>
              <a:t>CIE ingests customer behavior signals from demos, sandbox trials, and discovery sessions, then returns one of five commercialization outcomes </a:t>
            </a:r>
            <a:endParaRPr lang="en-IN" sz="2000" dirty="0"/>
          </a:p>
          <a:p>
            <a:pPr algn="l">
              <a:lnSpc>
                <a:spcPct val="145000"/>
              </a:lnSpc>
              <a:spcAft>
                <a:spcPts val="0"/>
              </a:spcAft>
              <a:defRPr sz="1350" b="0" i="0">
                <a:solidFill>
                  <a:srgbClr val="3D4452"/>
                </a:solidFill>
                <a:latin typeface="Calibri"/>
              </a:defRPr>
            </a:pPr>
            <a:r>
              <a:rPr sz="2000" dirty="0"/>
              <a:t>each one explained in plain English.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215CBB-3684-A016-BC64-C039C7831CD4}"/>
              </a:ext>
            </a:extLst>
          </p:cNvPr>
          <p:cNvSpPr txBox="1"/>
          <p:nvPr/>
        </p:nvSpPr>
        <p:spPr>
          <a:xfrm>
            <a:off x="548640" y="3931920"/>
            <a:ext cx="6400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1" i="0">
                <a:solidFill>
                  <a:srgbClr val="C86A1E"/>
                </a:solidFill>
                <a:latin typeface="Calibri"/>
              </a:defRPr>
            </a:pPr>
            <a:r>
              <a:rPr sz="2000" spc="250" dirty="0"/>
              <a:t>HOW IT WORKS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D52D21-4070-C92F-1EE9-00B3C0D74988}"/>
              </a:ext>
            </a:extLst>
          </p:cNvPr>
          <p:cNvSpPr txBox="1"/>
          <p:nvPr/>
        </p:nvSpPr>
        <p:spPr>
          <a:xfrm>
            <a:off x="639834" y="4574291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 i="0">
                <a:solidFill>
                  <a:srgbClr val="C86A1E"/>
                </a:solidFill>
                <a:latin typeface="Georgia"/>
              </a:defRPr>
            </a:pPr>
            <a:r>
              <a:rPr sz="1600" dirty="0"/>
              <a:t>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6AC506-B916-A1FC-0A5E-4688336C2C49}"/>
              </a:ext>
            </a:extLst>
          </p:cNvPr>
          <p:cNvSpPr txBox="1"/>
          <p:nvPr/>
        </p:nvSpPr>
        <p:spPr>
          <a:xfrm>
            <a:off x="639834" y="4802891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1" i="0">
                <a:solidFill>
                  <a:srgbClr val="1B1F2A"/>
                </a:solidFill>
                <a:latin typeface="Calibri"/>
              </a:defRPr>
            </a:pPr>
            <a:r>
              <a:rPr sz="1600" dirty="0"/>
              <a:t>Ingest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EEAD3C-144A-AEAB-8E3D-550198431A97}"/>
              </a:ext>
            </a:extLst>
          </p:cNvPr>
          <p:cNvSpPr txBox="1"/>
          <p:nvPr/>
        </p:nvSpPr>
        <p:spPr>
          <a:xfrm>
            <a:off x="639834" y="5031491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 i="0">
                <a:solidFill>
                  <a:srgbClr val="6B7080"/>
                </a:solidFill>
                <a:latin typeface="Calibri"/>
              </a:defRPr>
            </a:pPr>
            <a:r>
              <a:rPr sz="1600" dirty="0"/>
              <a:t>customer signals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C2FBB4-3128-93CD-8096-E694584C6867}"/>
              </a:ext>
            </a:extLst>
          </p:cNvPr>
          <p:cNvSpPr txBox="1"/>
          <p:nvPr/>
        </p:nvSpPr>
        <p:spPr>
          <a:xfrm>
            <a:off x="2011434" y="4802891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 i="0">
                <a:solidFill>
                  <a:srgbClr val="C4BAA8"/>
                </a:solidFill>
                <a:latin typeface="Calibri"/>
              </a:defRPr>
            </a:pPr>
            <a:r>
              <a:rPr sz="1600" dirty="0"/>
              <a:t>→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65E07F-52F8-D71B-72CE-7B9A0F84B3F6}"/>
              </a:ext>
            </a:extLst>
          </p:cNvPr>
          <p:cNvSpPr txBox="1"/>
          <p:nvPr/>
        </p:nvSpPr>
        <p:spPr>
          <a:xfrm>
            <a:off x="2285754" y="4574291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 i="0">
                <a:solidFill>
                  <a:srgbClr val="C86A1E"/>
                </a:solidFill>
                <a:latin typeface="Georgia"/>
              </a:defRPr>
            </a:pPr>
            <a:r>
              <a:rPr sz="1600" dirty="0"/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5E4B5B-C06B-7EE9-237B-5D91E8D39028}"/>
              </a:ext>
            </a:extLst>
          </p:cNvPr>
          <p:cNvSpPr txBox="1"/>
          <p:nvPr/>
        </p:nvSpPr>
        <p:spPr>
          <a:xfrm>
            <a:off x="2285754" y="4802891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1" i="0">
                <a:solidFill>
                  <a:srgbClr val="1B1F2A"/>
                </a:solidFill>
                <a:latin typeface="Calibri"/>
              </a:defRPr>
            </a:pPr>
            <a:r>
              <a:rPr sz="1600" dirty="0"/>
              <a:t>Engineer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255650-B38E-8D61-D5A0-DACD97C47325}"/>
              </a:ext>
            </a:extLst>
          </p:cNvPr>
          <p:cNvSpPr txBox="1"/>
          <p:nvPr/>
        </p:nvSpPr>
        <p:spPr>
          <a:xfrm>
            <a:off x="2285754" y="5031491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 i="0">
                <a:solidFill>
                  <a:srgbClr val="6B7080"/>
                </a:solidFill>
                <a:latin typeface="Calibri"/>
              </a:defRPr>
            </a:pPr>
            <a:r>
              <a:rPr sz="1600" dirty="0"/>
              <a:t>14 features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749487-BA36-78D9-E85B-A53FD61F7E78}"/>
              </a:ext>
            </a:extLst>
          </p:cNvPr>
          <p:cNvSpPr txBox="1"/>
          <p:nvPr/>
        </p:nvSpPr>
        <p:spPr>
          <a:xfrm>
            <a:off x="3657354" y="4802891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 i="0">
                <a:solidFill>
                  <a:srgbClr val="C4BAA8"/>
                </a:solidFill>
                <a:latin typeface="Calibri"/>
              </a:defRPr>
            </a:pPr>
            <a:r>
              <a:rPr sz="1600" dirty="0"/>
              <a:t>→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A5A16B-BA75-3565-9B0B-EA559A7EE84A}"/>
              </a:ext>
            </a:extLst>
          </p:cNvPr>
          <p:cNvSpPr txBox="1"/>
          <p:nvPr/>
        </p:nvSpPr>
        <p:spPr>
          <a:xfrm>
            <a:off x="3931674" y="4574291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 i="0">
                <a:solidFill>
                  <a:srgbClr val="C86A1E"/>
                </a:solidFill>
                <a:latin typeface="Georgia"/>
              </a:defRPr>
            </a:pPr>
            <a:r>
              <a:rPr sz="1600" dirty="0"/>
              <a:t>03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54472A-F847-2A17-1A99-01E6686191CC}"/>
              </a:ext>
            </a:extLst>
          </p:cNvPr>
          <p:cNvSpPr txBox="1"/>
          <p:nvPr/>
        </p:nvSpPr>
        <p:spPr>
          <a:xfrm>
            <a:off x="3931674" y="4802891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1" i="0">
                <a:solidFill>
                  <a:srgbClr val="1B1F2A"/>
                </a:solidFill>
                <a:latin typeface="Calibri"/>
              </a:defRPr>
            </a:pPr>
            <a:r>
              <a:rPr sz="1600" dirty="0"/>
              <a:t>Run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78DEA6-E9E0-45B6-190E-DC6F61221A6B}"/>
              </a:ext>
            </a:extLst>
          </p:cNvPr>
          <p:cNvSpPr txBox="1"/>
          <p:nvPr/>
        </p:nvSpPr>
        <p:spPr>
          <a:xfrm>
            <a:off x="3931674" y="5031491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 i="0">
                <a:solidFill>
                  <a:srgbClr val="6B7080"/>
                </a:solidFill>
                <a:latin typeface="Calibri"/>
              </a:defRPr>
            </a:pPr>
            <a:r>
              <a:rPr sz="1600" dirty="0"/>
              <a:t>3-layer ML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58ED44-F571-FB65-BD19-934710D214F3}"/>
              </a:ext>
            </a:extLst>
          </p:cNvPr>
          <p:cNvSpPr txBox="1"/>
          <p:nvPr/>
        </p:nvSpPr>
        <p:spPr>
          <a:xfrm>
            <a:off x="5303274" y="4802891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 i="0">
                <a:solidFill>
                  <a:srgbClr val="C4BAA8"/>
                </a:solidFill>
                <a:latin typeface="Calibri"/>
              </a:defRPr>
            </a:pPr>
            <a:r>
              <a:rPr sz="1600" dirty="0"/>
              <a:t>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1F61E9-6A56-8DBE-9C49-A8E5FEB3B193}"/>
              </a:ext>
            </a:extLst>
          </p:cNvPr>
          <p:cNvSpPr txBox="1"/>
          <p:nvPr/>
        </p:nvSpPr>
        <p:spPr>
          <a:xfrm>
            <a:off x="5577594" y="4574291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 i="0">
                <a:solidFill>
                  <a:srgbClr val="C86A1E"/>
                </a:solidFill>
                <a:latin typeface="Georgia"/>
              </a:defRPr>
            </a:pPr>
            <a:r>
              <a:rPr sz="1600" dirty="0"/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412D1B-81E5-A533-65C6-3C70AA2656E1}"/>
              </a:ext>
            </a:extLst>
          </p:cNvPr>
          <p:cNvSpPr txBox="1"/>
          <p:nvPr/>
        </p:nvSpPr>
        <p:spPr>
          <a:xfrm>
            <a:off x="5577594" y="4802891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1" i="0">
                <a:solidFill>
                  <a:srgbClr val="1B1F2A"/>
                </a:solidFill>
                <a:latin typeface="Calibri"/>
              </a:defRPr>
            </a:pPr>
            <a:r>
              <a:rPr sz="1600" dirty="0"/>
              <a:t>Explain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C8C79F-C1BB-5D5E-129A-CF205400DC6F}"/>
              </a:ext>
            </a:extLst>
          </p:cNvPr>
          <p:cNvSpPr txBox="1"/>
          <p:nvPr/>
        </p:nvSpPr>
        <p:spPr>
          <a:xfrm>
            <a:off x="5577594" y="5031491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 i="0">
                <a:solidFill>
                  <a:srgbClr val="6B7080"/>
                </a:solidFill>
                <a:latin typeface="Calibri"/>
              </a:defRPr>
            </a:pPr>
            <a:r>
              <a:rPr sz="1600" dirty="0"/>
              <a:t>via SHAP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4EFC83-D990-0436-E515-D6F7BD779C5E}"/>
              </a:ext>
            </a:extLst>
          </p:cNvPr>
          <p:cNvSpPr txBox="1"/>
          <p:nvPr/>
        </p:nvSpPr>
        <p:spPr>
          <a:xfrm>
            <a:off x="7589520" y="2560320"/>
            <a:ext cx="4023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1" i="0">
                <a:solidFill>
                  <a:srgbClr val="C86A1E"/>
                </a:solidFill>
                <a:latin typeface="Calibri"/>
              </a:defRPr>
            </a:pPr>
            <a:r>
              <a:rPr spc="250" dirty="0"/>
              <a:t>FIVE POSSIBLE OUTCOMES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318CBB1-6722-4DB8-DCA3-4E9E84E6A0F6}"/>
              </a:ext>
            </a:extLst>
          </p:cNvPr>
          <p:cNvSpPr/>
          <p:nvPr/>
        </p:nvSpPr>
        <p:spPr>
          <a:xfrm>
            <a:off x="7589520" y="2999232"/>
            <a:ext cx="164592" cy="164592"/>
          </a:xfrm>
          <a:prstGeom prst="ellipse">
            <a:avLst/>
          </a:prstGeom>
          <a:solidFill>
            <a:srgbClr val="4F7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8B0461-1F2A-B0F5-4AC0-15F42A91DFB6}"/>
              </a:ext>
            </a:extLst>
          </p:cNvPr>
          <p:cNvSpPr txBox="1"/>
          <p:nvPr/>
        </p:nvSpPr>
        <p:spPr>
          <a:xfrm>
            <a:off x="7909560" y="292608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1" i="0">
                <a:solidFill>
                  <a:srgbClr val="1B1F2A"/>
                </a:solidFill>
                <a:latin typeface="Calibri"/>
              </a:defRPr>
            </a:pPr>
            <a:r>
              <a:rPr dirty="0"/>
              <a:t>MVP Build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150FA7-4A2A-DA94-02A7-A54ADA57C0D0}"/>
              </a:ext>
            </a:extLst>
          </p:cNvPr>
          <p:cNvSpPr txBox="1"/>
          <p:nvPr/>
        </p:nvSpPr>
        <p:spPr>
          <a:xfrm>
            <a:off x="7909560" y="315468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 i="1">
                <a:solidFill>
                  <a:srgbClr val="6B7080"/>
                </a:solidFill>
                <a:latin typeface="Calibri"/>
              </a:defRPr>
            </a:pPr>
            <a:r>
              <a:rPr dirty="0"/>
              <a:t>Allocate engineering now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DD03B48-1B99-1520-7244-FE02C6D61AE2}"/>
              </a:ext>
            </a:extLst>
          </p:cNvPr>
          <p:cNvSpPr/>
          <p:nvPr/>
        </p:nvSpPr>
        <p:spPr>
          <a:xfrm>
            <a:off x="7589520" y="3566160"/>
            <a:ext cx="164592" cy="16459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3958A7-FB5C-1E97-D87F-FF9F32975114}"/>
              </a:ext>
            </a:extLst>
          </p:cNvPr>
          <p:cNvSpPr txBox="1"/>
          <p:nvPr/>
        </p:nvSpPr>
        <p:spPr>
          <a:xfrm>
            <a:off x="7909560" y="3493008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1" i="0">
                <a:solidFill>
                  <a:srgbClr val="1B1F2A"/>
                </a:solidFill>
                <a:latin typeface="Calibri"/>
              </a:defRPr>
            </a:pPr>
            <a:r>
              <a:rPr dirty="0"/>
              <a:t>Customer Pilot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78F064-2648-6BDD-C8F9-209FF5F69BB8}"/>
              </a:ext>
            </a:extLst>
          </p:cNvPr>
          <p:cNvSpPr txBox="1"/>
          <p:nvPr/>
        </p:nvSpPr>
        <p:spPr>
          <a:xfrm>
            <a:off x="7909560" y="3721608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 i="1">
                <a:solidFill>
                  <a:srgbClr val="6B7080"/>
                </a:solidFill>
                <a:latin typeface="Calibri"/>
              </a:defRPr>
            </a:pPr>
            <a:r>
              <a:rPr dirty="0"/>
              <a:t>Sign 1–2 trial customers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599E6A2-8363-3EBC-18E5-66664412FFE3}"/>
              </a:ext>
            </a:extLst>
          </p:cNvPr>
          <p:cNvSpPr/>
          <p:nvPr/>
        </p:nvSpPr>
        <p:spPr>
          <a:xfrm>
            <a:off x="7589520" y="4133088"/>
            <a:ext cx="164592" cy="164592"/>
          </a:xfrm>
          <a:prstGeom prst="ellipse">
            <a:avLst/>
          </a:prstGeom>
          <a:solidFill>
            <a:srgbClr val="6B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36FA2C-1E97-BC52-3D91-E10EA5B7B09B}"/>
              </a:ext>
            </a:extLst>
          </p:cNvPr>
          <p:cNvSpPr txBox="1"/>
          <p:nvPr/>
        </p:nvSpPr>
        <p:spPr>
          <a:xfrm>
            <a:off x="7909560" y="4059936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1" i="0">
                <a:solidFill>
                  <a:srgbClr val="1B1F2A"/>
                </a:solidFill>
                <a:latin typeface="Calibri"/>
              </a:defRPr>
            </a:pPr>
            <a:r>
              <a:rPr dirty="0"/>
              <a:t>Reusable Asset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757824-DDF3-DA1D-2FE6-84F577B26EE5}"/>
              </a:ext>
            </a:extLst>
          </p:cNvPr>
          <p:cNvSpPr txBox="1"/>
          <p:nvPr/>
        </p:nvSpPr>
        <p:spPr>
          <a:xfrm>
            <a:off x="7909560" y="4288536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 i="1">
                <a:solidFill>
                  <a:srgbClr val="6B7080"/>
                </a:solidFill>
                <a:latin typeface="Calibri"/>
              </a:defRPr>
            </a:pPr>
            <a:r>
              <a:rPr dirty="0"/>
              <a:t>Package for cross-segment use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E34E62D-2CF5-4258-DFA5-C4EFAA0CDAE7}"/>
              </a:ext>
            </a:extLst>
          </p:cNvPr>
          <p:cNvSpPr/>
          <p:nvPr/>
        </p:nvSpPr>
        <p:spPr>
          <a:xfrm>
            <a:off x="7589520" y="4700016"/>
            <a:ext cx="164592" cy="164592"/>
          </a:xfrm>
          <a:prstGeom prst="ellipse">
            <a:avLst/>
          </a:prstGeom>
          <a:solidFill>
            <a:srgbClr val="C8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77452E-33F5-DD19-6FB8-42870A2A61AE}"/>
              </a:ext>
            </a:extLst>
          </p:cNvPr>
          <p:cNvSpPr txBox="1"/>
          <p:nvPr/>
        </p:nvSpPr>
        <p:spPr>
          <a:xfrm>
            <a:off x="7909560" y="462686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1" i="0">
                <a:solidFill>
                  <a:srgbClr val="1B1F2A"/>
                </a:solidFill>
                <a:latin typeface="Calibri"/>
              </a:defRPr>
            </a:pPr>
            <a:r>
              <a:rPr dirty="0"/>
              <a:t>Incubate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E43369-FB35-EC41-0686-0A9271FA92E7}"/>
              </a:ext>
            </a:extLst>
          </p:cNvPr>
          <p:cNvSpPr txBox="1"/>
          <p:nvPr/>
        </p:nvSpPr>
        <p:spPr>
          <a:xfrm>
            <a:off x="7909560" y="4855464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 i="1">
                <a:solidFill>
                  <a:srgbClr val="6B7080"/>
                </a:solidFill>
                <a:latin typeface="Calibri"/>
              </a:defRPr>
            </a:pPr>
            <a:r>
              <a:rPr dirty="0"/>
              <a:t>Gather more evidence first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8F0CF28-1325-0FAD-639B-E1CFFBDD58D9}"/>
              </a:ext>
            </a:extLst>
          </p:cNvPr>
          <p:cNvSpPr/>
          <p:nvPr/>
        </p:nvSpPr>
        <p:spPr>
          <a:xfrm>
            <a:off x="7589520" y="5266944"/>
            <a:ext cx="164592" cy="164592"/>
          </a:xfrm>
          <a:prstGeom prst="ellipse">
            <a:avLst/>
          </a:prstGeom>
          <a:solidFill>
            <a:srgbClr val="A84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B4B16B-F7F0-3C59-057F-20EEB82134E5}"/>
              </a:ext>
            </a:extLst>
          </p:cNvPr>
          <p:cNvSpPr txBox="1"/>
          <p:nvPr/>
        </p:nvSpPr>
        <p:spPr>
          <a:xfrm>
            <a:off x="7909560" y="5193792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1" i="0">
                <a:solidFill>
                  <a:srgbClr val="1B1F2A"/>
                </a:solidFill>
                <a:latin typeface="Calibri"/>
              </a:defRPr>
            </a:pPr>
            <a:r>
              <a:rPr dirty="0"/>
              <a:t>Archive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C6265E-2732-50A3-55FB-4FDD1C8B7831}"/>
              </a:ext>
            </a:extLst>
          </p:cNvPr>
          <p:cNvSpPr txBox="1"/>
          <p:nvPr/>
        </p:nvSpPr>
        <p:spPr>
          <a:xfrm>
            <a:off x="7909560" y="5422392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 i="1">
                <a:solidFill>
                  <a:srgbClr val="6B7080"/>
                </a:solidFill>
                <a:latin typeface="Calibri"/>
              </a:defRPr>
            </a:pPr>
            <a:r>
              <a:rPr dirty="0"/>
              <a:t>Document, deprioritize, redeploy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117515-9C0C-8AA3-A88C-5A41FF507C64}"/>
              </a:ext>
            </a:extLst>
          </p:cNvPr>
          <p:cNvSpPr txBox="1"/>
          <p:nvPr/>
        </p:nvSpPr>
        <p:spPr>
          <a:xfrm>
            <a:off x="548640" y="22860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1" i="0">
                <a:solidFill>
                  <a:srgbClr val="C86A1E"/>
                </a:solidFill>
                <a:latin typeface="Calibri"/>
              </a:defRPr>
            </a:pPr>
            <a:endParaRPr spc="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EE07181-9891-BD5B-CE8D-9D6333CBC3DD}"/>
              </a:ext>
            </a:extLst>
          </p:cNvPr>
          <p:cNvSpPr txBox="1"/>
          <p:nvPr/>
        </p:nvSpPr>
        <p:spPr>
          <a:xfrm>
            <a:off x="529958" y="301750"/>
            <a:ext cx="4051873" cy="291037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defRPr sz="900" b="1">
                <a:solidFill>
                  <a:srgbClr val="0078D4"/>
                </a:solidFill>
                <a:latin typeface="Calibri"/>
              </a:defRPr>
            </a:pPr>
            <a:r>
              <a:rPr lang="en-IN" sz="1400" spc="200" dirty="0"/>
              <a:t>THE SOLUTION</a:t>
            </a:r>
          </a:p>
          <a:p>
            <a:pPr>
              <a:spcAft>
                <a:spcPts val="600"/>
              </a:spcAft>
              <a:defRPr sz="900" b="1">
                <a:solidFill>
                  <a:srgbClr val="0078D4"/>
                </a:solidFill>
                <a:latin typeface="Calibri"/>
              </a:defRPr>
            </a:pPr>
            <a:endParaRPr lang="en-IN" sz="1400" spc="200" dirty="0"/>
          </a:p>
          <a:p>
            <a:pPr algn="l">
              <a:spcAft>
                <a:spcPts val="600"/>
              </a:spcAft>
              <a:defRPr sz="900" b="1">
                <a:solidFill>
                  <a:srgbClr val="0078D4"/>
                </a:solidFill>
                <a:latin typeface="Calibri"/>
              </a:defRPr>
            </a:pPr>
            <a:endParaRPr sz="14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6808262-6E15-250E-124C-DE62A9C9D16C}"/>
              </a:ext>
            </a:extLst>
          </p:cNvPr>
          <p:cNvSpPr/>
          <p:nvPr/>
        </p:nvSpPr>
        <p:spPr>
          <a:xfrm>
            <a:off x="550011" y="631440"/>
            <a:ext cx="11091672" cy="6350"/>
          </a:xfrm>
          <a:prstGeom prst="rect">
            <a:avLst/>
          </a:prstGeom>
          <a:solidFill>
            <a:srgbClr val="C4B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6529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4197A0-8AD7-3194-0479-9CF524B3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F9B7B8-2A4A-3A27-0A7F-509A0502A759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2D2002-24A6-C28E-0309-D4BD93093F0B}"/>
              </a:ext>
            </a:extLst>
          </p:cNvPr>
          <p:cNvSpPr txBox="1"/>
          <p:nvPr/>
        </p:nvSpPr>
        <p:spPr>
          <a:xfrm>
            <a:off x="609905" y="3508154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A645C5-76AE-5051-00D0-7CDBC747F490}"/>
              </a:ext>
            </a:extLst>
          </p:cNvPr>
          <p:cNvSpPr txBox="1"/>
          <p:nvPr/>
        </p:nvSpPr>
        <p:spPr>
          <a:xfrm>
            <a:off x="-511278" y="3749041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300" b="0">
                <a:solidFill>
                  <a:srgbClr val="999999"/>
                </a:solidFill>
                <a:latin typeface="Calibri"/>
              </a:defRPr>
            </a:pP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34DAB3-BFB2-2B2E-50FD-49D94945DBD6}"/>
              </a:ext>
            </a:extLst>
          </p:cNvPr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rPr dirty="0"/>
              <a:t>1 / 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F99553-C280-485B-3080-54C0197DEB15}"/>
              </a:ext>
            </a:extLst>
          </p:cNvPr>
          <p:cNvSpPr txBox="1"/>
          <p:nvPr/>
        </p:nvSpPr>
        <p:spPr>
          <a:xfrm>
            <a:off x="548640" y="22860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1" i="0">
                <a:solidFill>
                  <a:srgbClr val="C86A1E"/>
                </a:solidFill>
                <a:latin typeface="Calibri"/>
              </a:defRPr>
            </a:pPr>
            <a:endParaRPr spc="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011D66-1C3D-90C3-4233-472BEA3F36F9}"/>
              </a:ext>
            </a:extLst>
          </p:cNvPr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1" i="0">
                <a:solidFill>
                  <a:srgbClr val="C86A1E"/>
                </a:solidFill>
                <a:latin typeface="Calibri"/>
              </a:defRPr>
            </a:pPr>
            <a:r>
              <a:rPr lang="en-IN" spc="300" dirty="0"/>
              <a:t>SYSTEM DESIGN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72D8AF-561D-B823-8CEF-D897EF8D45AE}"/>
              </a:ext>
            </a:extLst>
          </p:cNvPr>
          <p:cNvSpPr txBox="1"/>
          <p:nvPr/>
        </p:nvSpPr>
        <p:spPr>
          <a:xfrm>
            <a:off x="548640" y="1005840"/>
            <a:ext cx="8229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0"/>
              </a:spcAft>
              <a:defRPr sz="3200" b="1" i="0">
                <a:solidFill>
                  <a:srgbClr val="1B1F2A"/>
                </a:solidFill>
                <a:latin typeface="Georgia"/>
              </a:defRPr>
            </a:pPr>
            <a:r>
              <a:rPr dirty="0"/>
              <a:t>Four phases.</a:t>
            </a:r>
            <a:br>
              <a:rPr dirty="0"/>
            </a:b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D7591A-4523-EFB0-D834-04E894F0D702}"/>
              </a:ext>
            </a:extLst>
          </p:cNvPr>
          <p:cNvSpPr txBox="1"/>
          <p:nvPr/>
        </p:nvSpPr>
        <p:spPr>
          <a:xfrm>
            <a:off x="550011" y="1562839"/>
            <a:ext cx="73152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40000"/>
              </a:lnSpc>
              <a:spcAft>
                <a:spcPts val="0"/>
              </a:spcAft>
              <a:defRPr sz="1300" b="0" i="0">
                <a:solidFill>
                  <a:srgbClr val="3D4452"/>
                </a:solidFill>
                <a:latin typeface="Calibri"/>
              </a:defRPr>
            </a:pPr>
            <a:r>
              <a:rPr sz="2000" dirty="0"/>
              <a:t>Each phase runs independently. Intermediate results persist as CSV/JSON — so any stage can be inspected, replayed, or replaced without touching the others.</a:t>
            </a: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0E6BE60B-2AF0-883A-201B-0AE8F1A513C6}"/>
              </a:ext>
            </a:extLst>
          </p:cNvPr>
          <p:cNvSpPr/>
          <p:nvPr/>
        </p:nvSpPr>
        <p:spPr>
          <a:xfrm>
            <a:off x="548640" y="3491438"/>
            <a:ext cx="2468880" cy="1828800"/>
          </a:xfrm>
          <a:prstGeom prst="roundRect">
            <a:avLst/>
          </a:prstGeom>
          <a:solidFill>
            <a:srgbClr val="FFFFFD"/>
          </a:solidFill>
          <a:ln w="9525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AAC4E6C1-5848-4E34-1036-A5CA5EDAB4A3}"/>
              </a:ext>
            </a:extLst>
          </p:cNvPr>
          <p:cNvSpPr/>
          <p:nvPr/>
        </p:nvSpPr>
        <p:spPr>
          <a:xfrm>
            <a:off x="548640" y="3491438"/>
            <a:ext cx="2468880" cy="73152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941030-80F6-DCFA-C949-5E32B5859C55}"/>
              </a:ext>
            </a:extLst>
          </p:cNvPr>
          <p:cNvSpPr txBox="1"/>
          <p:nvPr/>
        </p:nvSpPr>
        <p:spPr>
          <a:xfrm>
            <a:off x="777240" y="3720038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2200" b="1" i="0">
                <a:solidFill>
                  <a:srgbClr val="1F4E79"/>
                </a:solidFill>
                <a:latin typeface="Georgia"/>
              </a:defRPr>
            </a:pPr>
            <a:r>
              <a:rPr dirty="0"/>
              <a:t>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D42966-B505-30CF-BD1C-45AD1C4BD3FC}"/>
              </a:ext>
            </a:extLst>
          </p:cNvPr>
          <p:cNvSpPr txBox="1"/>
          <p:nvPr/>
        </p:nvSpPr>
        <p:spPr>
          <a:xfrm>
            <a:off x="777240" y="4131518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Aft>
                <a:spcPts val="0"/>
              </a:spcAft>
              <a:defRPr sz="1500" b="1" i="0">
                <a:solidFill>
                  <a:srgbClr val="1B1F2A"/>
                </a:solidFill>
                <a:latin typeface="Georgia"/>
              </a:defRPr>
            </a:pPr>
            <a:r>
              <a:rPr dirty="0"/>
              <a:t>Data</a:t>
            </a:r>
            <a:br>
              <a:rPr dirty="0"/>
            </a:br>
            <a:r>
              <a:rPr dirty="0"/>
              <a:t>Generation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E030CA-B42A-0E83-8E33-CBEFBFC0DB88}"/>
              </a:ext>
            </a:extLst>
          </p:cNvPr>
          <p:cNvSpPr txBox="1"/>
          <p:nvPr/>
        </p:nvSpPr>
        <p:spPr>
          <a:xfrm>
            <a:off x="777240" y="4725878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  <a:spcAft>
                <a:spcPts val="0"/>
              </a:spcAft>
              <a:defRPr sz="950" b="0" i="0">
                <a:solidFill>
                  <a:srgbClr val="6B7080"/>
                </a:solidFill>
                <a:latin typeface="Calibri"/>
              </a:defRPr>
            </a:pPr>
            <a:r>
              <a:rPr dirty="0"/>
              <a:t>6 CSVs · dependency chains · latent variable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4EBC10-510E-216A-39F9-41699D9021B7}"/>
              </a:ext>
            </a:extLst>
          </p:cNvPr>
          <p:cNvSpPr txBox="1"/>
          <p:nvPr/>
        </p:nvSpPr>
        <p:spPr>
          <a:xfrm>
            <a:off x="3063240" y="4268678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20000"/>
              </a:lnSpc>
              <a:spcAft>
                <a:spcPts val="0"/>
              </a:spcAft>
              <a:defRPr sz="1800" b="0" i="0">
                <a:solidFill>
                  <a:srgbClr val="C4BAA8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CAD0C8A2-B051-D51B-4049-25E269989E59}"/>
              </a:ext>
            </a:extLst>
          </p:cNvPr>
          <p:cNvSpPr/>
          <p:nvPr/>
        </p:nvSpPr>
        <p:spPr>
          <a:xfrm>
            <a:off x="3383280" y="3491438"/>
            <a:ext cx="2468880" cy="1828800"/>
          </a:xfrm>
          <a:prstGeom prst="roundRect">
            <a:avLst/>
          </a:prstGeom>
          <a:solidFill>
            <a:srgbClr val="FFFFFD"/>
          </a:solidFill>
          <a:ln w="9525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ounded Rectangle 15">
            <a:extLst>
              <a:ext uri="{FF2B5EF4-FFF2-40B4-BE49-F238E27FC236}">
                <a16:creationId xmlns:a16="http://schemas.microsoft.com/office/drawing/2014/main" id="{C03F3C1D-378E-5645-0A52-26987CB38676}"/>
              </a:ext>
            </a:extLst>
          </p:cNvPr>
          <p:cNvSpPr/>
          <p:nvPr/>
        </p:nvSpPr>
        <p:spPr>
          <a:xfrm>
            <a:off x="3383280" y="3491438"/>
            <a:ext cx="2468880" cy="73152"/>
          </a:xfrm>
          <a:prstGeom prst="roundRect">
            <a:avLst/>
          </a:prstGeom>
          <a:solidFill>
            <a:srgbClr val="4F7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832A12-F10A-B797-AAE3-FD1D0139EF52}"/>
              </a:ext>
            </a:extLst>
          </p:cNvPr>
          <p:cNvSpPr txBox="1"/>
          <p:nvPr/>
        </p:nvSpPr>
        <p:spPr>
          <a:xfrm>
            <a:off x="3611880" y="3720038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2200" b="1" i="0">
                <a:solidFill>
                  <a:srgbClr val="4F7942"/>
                </a:solidFill>
                <a:latin typeface="Georgia"/>
              </a:defRPr>
            </a:pPr>
            <a:r>
              <a:rPr dirty="0"/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503166-AC62-A9B0-56C0-28B4C381DADE}"/>
              </a:ext>
            </a:extLst>
          </p:cNvPr>
          <p:cNvSpPr txBox="1"/>
          <p:nvPr/>
        </p:nvSpPr>
        <p:spPr>
          <a:xfrm>
            <a:off x="3611880" y="4131518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Aft>
                <a:spcPts val="0"/>
              </a:spcAft>
              <a:defRPr sz="1500" b="1" i="0">
                <a:solidFill>
                  <a:srgbClr val="1B1F2A"/>
                </a:solidFill>
                <a:latin typeface="Georgia"/>
              </a:defRPr>
            </a:pPr>
            <a:r>
              <a:rPr dirty="0"/>
              <a:t>Feature</a:t>
            </a:r>
            <a:br>
              <a:rPr dirty="0"/>
            </a:br>
            <a:r>
              <a:rPr dirty="0"/>
              <a:t>Engineering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2783D4-9C3C-07D3-B45E-49C27F480DA9}"/>
              </a:ext>
            </a:extLst>
          </p:cNvPr>
          <p:cNvSpPr txBox="1"/>
          <p:nvPr/>
        </p:nvSpPr>
        <p:spPr>
          <a:xfrm>
            <a:off x="3611880" y="4725878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  <a:spcAft>
                <a:spcPts val="0"/>
              </a:spcAft>
              <a:defRPr sz="950" b="0" i="0">
                <a:solidFill>
                  <a:srgbClr val="6B7080"/>
                </a:solidFill>
                <a:latin typeface="Calibri"/>
              </a:defRPr>
            </a:pPr>
            <a:r>
              <a:rPr dirty="0"/>
              <a:t>14 features · cleaning · validation · norm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71BA43-8AA2-54C5-D1F7-3DBF96CCC26F}"/>
              </a:ext>
            </a:extLst>
          </p:cNvPr>
          <p:cNvSpPr txBox="1"/>
          <p:nvPr/>
        </p:nvSpPr>
        <p:spPr>
          <a:xfrm>
            <a:off x="5897880" y="4268678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20000"/>
              </a:lnSpc>
              <a:spcAft>
                <a:spcPts val="0"/>
              </a:spcAft>
              <a:defRPr sz="1800" b="0" i="0">
                <a:solidFill>
                  <a:srgbClr val="C4BAA8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25" name="Rounded Rectangle 20">
            <a:extLst>
              <a:ext uri="{FF2B5EF4-FFF2-40B4-BE49-F238E27FC236}">
                <a16:creationId xmlns:a16="http://schemas.microsoft.com/office/drawing/2014/main" id="{98DD36B0-D114-770B-FEFE-8F0F18EBC20E}"/>
              </a:ext>
            </a:extLst>
          </p:cNvPr>
          <p:cNvSpPr/>
          <p:nvPr/>
        </p:nvSpPr>
        <p:spPr>
          <a:xfrm>
            <a:off x="6217920" y="3491438"/>
            <a:ext cx="2468880" cy="1828800"/>
          </a:xfrm>
          <a:prstGeom prst="roundRect">
            <a:avLst/>
          </a:prstGeom>
          <a:solidFill>
            <a:srgbClr val="FFFFFD"/>
          </a:solidFill>
          <a:ln w="9525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Rounded Rectangle 21">
            <a:extLst>
              <a:ext uri="{FF2B5EF4-FFF2-40B4-BE49-F238E27FC236}">
                <a16:creationId xmlns:a16="http://schemas.microsoft.com/office/drawing/2014/main" id="{13200E1C-D445-1D00-5375-6DDB03C43AAE}"/>
              </a:ext>
            </a:extLst>
          </p:cNvPr>
          <p:cNvSpPr/>
          <p:nvPr/>
        </p:nvSpPr>
        <p:spPr>
          <a:xfrm>
            <a:off x="6217920" y="3491438"/>
            <a:ext cx="2468880" cy="73152"/>
          </a:xfrm>
          <a:prstGeom prst="roundRect">
            <a:avLst/>
          </a:prstGeom>
          <a:solidFill>
            <a:srgbClr val="C8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8A511B-1A53-4559-E677-1E92FEBC7F27}"/>
              </a:ext>
            </a:extLst>
          </p:cNvPr>
          <p:cNvSpPr txBox="1"/>
          <p:nvPr/>
        </p:nvSpPr>
        <p:spPr>
          <a:xfrm>
            <a:off x="6446520" y="3720038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2200" b="1" i="0">
                <a:solidFill>
                  <a:srgbClr val="C86A1E"/>
                </a:solidFill>
                <a:latin typeface="Georgia"/>
              </a:defRPr>
            </a:pPr>
            <a:r>
              <a:rPr dirty="0"/>
              <a:t>03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FEABFD-B90A-9866-48E2-83691B2F8C2C}"/>
              </a:ext>
            </a:extLst>
          </p:cNvPr>
          <p:cNvSpPr txBox="1"/>
          <p:nvPr/>
        </p:nvSpPr>
        <p:spPr>
          <a:xfrm>
            <a:off x="6446520" y="4131518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Aft>
                <a:spcPts val="0"/>
              </a:spcAft>
              <a:defRPr sz="1500" b="1" i="0">
                <a:solidFill>
                  <a:srgbClr val="1B1F2A"/>
                </a:solidFill>
                <a:latin typeface="Georgia"/>
              </a:defRPr>
            </a:pPr>
            <a:r>
              <a:rPr dirty="0"/>
              <a:t>ML</a:t>
            </a:r>
            <a:br>
              <a:rPr dirty="0"/>
            </a:br>
            <a:r>
              <a:rPr dirty="0"/>
              <a:t>Pipeline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BDE8FF-C8E3-FA64-D574-70C4CFFC872D}"/>
              </a:ext>
            </a:extLst>
          </p:cNvPr>
          <p:cNvSpPr txBox="1"/>
          <p:nvPr/>
        </p:nvSpPr>
        <p:spPr>
          <a:xfrm>
            <a:off x="6446520" y="4725878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  <a:spcAft>
                <a:spcPts val="0"/>
              </a:spcAft>
              <a:defRPr sz="950" b="0" i="0">
                <a:solidFill>
                  <a:srgbClr val="6B7080"/>
                </a:solidFill>
                <a:latin typeface="Calibri"/>
              </a:defRPr>
            </a:pPr>
            <a:r>
              <a:rPr dirty="0"/>
              <a:t>baseline · K-Means · Random Forest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F3CD72-6103-1ACB-2B0D-9E2E5A194FB8}"/>
              </a:ext>
            </a:extLst>
          </p:cNvPr>
          <p:cNvSpPr txBox="1"/>
          <p:nvPr/>
        </p:nvSpPr>
        <p:spPr>
          <a:xfrm>
            <a:off x="8732520" y="4268678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20000"/>
              </a:lnSpc>
              <a:spcAft>
                <a:spcPts val="0"/>
              </a:spcAft>
              <a:defRPr sz="1800" b="0" i="0">
                <a:solidFill>
                  <a:srgbClr val="C4BAA8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31" name="Rounded Rectangle 26">
            <a:extLst>
              <a:ext uri="{FF2B5EF4-FFF2-40B4-BE49-F238E27FC236}">
                <a16:creationId xmlns:a16="http://schemas.microsoft.com/office/drawing/2014/main" id="{786A5B90-B615-88BA-6529-F8CC82BD3EDB}"/>
              </a:ext>
            </a:extLst>
          </p:cNvPr>
          <p:cNvSpPr/>
          <p:nvPr/>
        </p:nvSpPr>
        <p:spPr>
          <a:xfrm>
            <a:off x="9052560" y="3491438"/>
            <a:ext cx="2468880" cy="1828800"/>
          </a:xfrm>
          <a:prstGeom prst="roundRect">
            <a:avLst/>
          </a:prstGeom>
          <a:solidFill>
            <a:srgbClr val="FFFFFD"/>
          </a:solidFill>
          <a:ln w="9525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Rounded Rectangle 27">
            <a:extLst>
              <a:ext uri="{FF2B5EF4-FFF2-40B4-BE49-F238E27FC236}">
                <a16:creationId xmlns:a16="http://schemas.microsoft.com/office/drawing/2014/main" id="{DDD69DBD-95B6-3E5C-F857-6B4F985DB171}"/>
              </a:ext>
            </a:extLst>
          </p:cNvPr>
          <p:cNvSpPr/>
          <p:nvPr/>
        </p:nvSpPr>
        <p:spPr>
          <a:xfrm>
            <a:off x="9052560" y="3491438"/>
            <a:ext cx="2468880" cy="73152"/>
          </a:xfrm>
          <a:prstGeom prst="roundRect">
            <a:avLst/>
          </a:prstGeom>
          <a:solidFill>
            <a:srgbClr val="6B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31370E-C77D-92DE-23E2-2A36DC4504E0}"/>
              </a:ext>
            </a:extLst>
          </p:cNvPr>
          <p:cNvSpPr txBox="1"/>
          <p:nvPr/>
        </p:nvSpPr>
        <p:spPr>
          <a:xfrm>
            <a:off x="9281160" y="3720038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2200" b="1" i="0">
                <a:solidFill>
                  <a:srgbClr val="6B446E"/>
                </a:solidFill>
                <a:latin typeface="Georgia"/>
              </a:defRPr>
            </a:pPr>
            <a:r>
              <a:rPr dirty="0"/>
              <a:t>04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0EF737-F932-2DB7-C68C-742EDDDD3871}"/>
              </a:ext>
            </a:extLst>
          </p:cNvPr>
          <p:cNvSpPr txBox="1"/>
          <p:nvPr/>
        </p:nvSpPr>
        <p:spPr>
          <a:xfrm>
            <a:off x="9281160" y="4131518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Aft>
                <a:spcPts val="0"/>
              </a:spcAft>
              <a:defRPr sz="1500" b="1" i="0">
                <a:solidFill>
                  <a:srgbClr val="1B1F2A"/>
                </a:solidFill>
                <a:latin typeface="Georgia"/>
              </a:defRPr>
            </a:pPr>
            <a:r>
              <a:rPr dirty="0"/>
              <a:t>Explainability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7B9400-A8A4-F614-0858-2BB6DB4AE0D7}"/>
              </a:ext>
            </a:extLst>
          </p:cNvPr>
          <p:cNvSpPr txBox="1"/>
          <p:nvPr/>
        </p:nvSpPr>
        <p:spPr>
          <a:xfrm>
            <a:off x="9281160" y="4725878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  <a:spcAft>
                <a:spcPts val="0"/>
              </a:spcAft>
              <a:defRPr sz="950" b="0" i="0">
                <a:solidFill>
                  <a:srgbClr val="6B7080"/>
                </a:solidFill>
                <a:latin typeface="Calibri"/>
              </a:defRPr>
            </a:pPr>
            <a:r>
              <a:rPr dirty="0"/>
              <a:t>SHAP · evidence builder · AI narratives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A65686-4EE1-ED59-4707-1D3B0D217A3B}"/>
              </a:ext>
            </a:extLst>
          </p:cNvPr>
          <p:cNvSpPr txBox="1"/>
          <p:nvPr/>
        </p:nvSpPr>
        <p:spPr>
          <a:xfrm>
            <a:off x="529959" y="301751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defRPr sz="900" b="1">
                <a:solidFill>
                  <a:srgbClr val="0078D4"/>
                </a:solidFill>
                <a:latin typeface="Calibri"/>
              </a:defRPr>
            </a:pPr>
            <a:r>
              <a:rPr lang="en-IN" sz="1400" spc="200" dirty="0"/>
              <a:t>ARCHITECTURE</a:t>
            </a:r>
          </a:p>
          <a:p>
            <a:pPr algn="l">
              <a:spcAft>
                <a:spcPts val="600"/>
              </a:spcAft>
              <a:defRPr sz="900" b="1">
                <a:solidFill>
                  <a:srgbClr val="0078D4"/>
                </a:solidFill>
                <a:latin typeface="Calibri"/>
              </a:defRPr>
            </a:pPr>
            <a:endParaRPr sz="14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AF5F5E5-55AC-EE85-2B7F-F99DFBA38393}"/>
              </a:ext>
            </a:extLst>
          </p:cNvPr>
          <p:cNvSpPr/>
          <p:nvPr/>
        </p:nvSpPr>
        <p:spPr>
          <a:xfrm>
            <a:off x="550011" y="631440"/>
            <a:ext cx="11091672" cy="6350"/>
          </a:xfrm>
          <a:prstGeom prst="rect">
            <a:avLst/>
          </a:prstGeom>
          <a:solidFill>
            <a:srgbClr val="C4B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77536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200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900" b="1">
                <a:solidFill>
                  <a:srgbClr val="0078D4"/>
                </a:solidFill>
                <a:latin typeface="Calibri"/>
              </a:defRPr>
            </a:pPr>
            <a:r>
              <a:rPr sz="1400" dirty="0"/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2800" b="1">
                <a:solidFill>
                  <a:srgbClr val="1A1A1A"/>
                </a:solidFill>
                <a:latin typeface="Calibri"/>
              </a:defRPr>
            </a:pPr>
            <a:r>
              <a:rPr dirty="0"/>
              <a:t>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400" b="0">
                <a:solidFill>
                  <a:srgbClr val="555555"/>
                </a:solidFill>
                <a:latin typeface="Calibri"/>
              </a:defRPr>
            </a:pPr>
            <a:r>
              <a:rPr sz="2400" dirty="0"/>
              <a:t>Customer signals in, commercialization decisions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608" y="1758362"/>
            <a:ext cx="4085944" cy="3777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1">
                <a:solidFill>
                  <a:srgbClr val="0078D4"/>
                </a:solidFill>
                <a:latin typeface="Calibri"/>
              </a:defRPr>
            </a:pPr>
            <a:r>
              <a:rPr sz="1600" dirty="0"/>
              <a:t>Phase 1: Data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2156" y="3968662"/>
            <a:ext cx="4085944" cy="3777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1">
                <a:solidFill>
                  <a:srgbClr val="107C10"/>
                </a:solidFill>
                <a:latin typeface="Calibri"/>
              </a:defRPr>
            </a:pPr>
            <a:r>
              <a:rPr sz="1600" dirty="0"/>
              <a:t>Phase 2: Feature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57095"/>
            <a:ext cx="3064458" cy="1070241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6 CSV Tables</a:t>
            </a:r>
            <a:br>
              <a:rPr sz="1400" dirty="0"/>
            </a:br>
            <a:r>
              <a:rPr sz="1400" dirty="0"/>
              <a:t>30 columns, 80 customers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840480" y="2385696"/>
            <a:ext cx="357520" cy="314777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4251960" y="2157095"/>
            <a:ext cx="3064458" cy="1070241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Dependency Chain</a:t>
            </a:r>
            <a:br>
              <a:rPr sz="1400" dirty="0"/>
            </a:br>
            <a:r>
              <a:rPr sz="1200" dirty="0"/>
              <a:t>Industry → Problem → User → Concept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78040" y="2385696"/>
            <a:ext cx="357520" cy="314777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589520" y="2157095"/>
            <a:ext cx="3064458" cy="1070241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Latent Variable</a:t>
            </a:r>
            <a:br>
              <a:rPr sz="1400" dirty="0"/>
            </a:br>
            <a:r>
              <a:rPr sz="1400" dirty="0"/>
              <a:t>Beta(2,2) drives all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982" y="4352151"/>
            <a:ext cx="2349418" cy="1070241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Cleaning</a:t>
            </a:r>
            <a:br>
              <a:rPr sz="1400" dirty="0"/>
            </a:br>
            <a:r>
              <a:rPr sz="1400" dirty="0"/>
              <a:t>Imputation, clipping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36982" y="4580751"/>
            <a:ext cx="357520" cy="314777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3548462" y="4352151"/>
            <a:ext cx="2349418" cy="1070241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8 Required</a:t>
            </a:r>
            <a:br>
              <a:rPr sz="1400" dirty="0"/>
            </a:br>
            <a:r>
              <a:rPr sz="1400" dirty="0"/>
              <a:t>Features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34462" y="4580751"/>
            <a:ext cx="357520" cy="314777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6245942" y="4352151"/>
            <a:ext cx="2349418" cy="1070241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6 Extra</a:t>
            </a:r>
            <a:br>
              <a:rPr sz="1400" dirty="0"/>
            </a:br>
            <a:r>
              <a:rPr sz="1400" dirty="0"/>
              <a:t>Supporting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531942" y="4580751"/>
            <a:ext cx="357520" cy="314777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8943422" y="4352151"/>
            <a:ext cx="2349418" cy="1070241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14 Concept-Level</a:t>
            </a:r>
            <a:br>
              <a:rPr sz="1400" dirty="0"/>
            </a:br>
            <a:r>
              <a:rPr sz="1400" dirty="0"/>
              <a:t>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rPr dirty="0"/>
              <a:t>2 / 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C2C6D9-373E-13DB-6438-3BE87C4595D4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162DCC-C441-FB22-AAD5-61E344DA2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FF8B79-8038-5518-6688-9BA15A90B4B9}"/>
              </a:ext>
            </a:extLst>
          </p:cNvPr>
          <p:cNvSpPr txBox="1"/>
          <p:nvPr/>
        </p:nvSpPr>
        <p:spPr>
          <a:xfrm>
            <a:off x="914400" y="281313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900" b="1">
                <a:solidFill>
                  <a:srgbClr val="0078D4"/>
                </a:solidFill>
                <a:latin typeface="Calibri"/>
              </a:defRPr>
            </a:pPr>
            <a:r>
              <a:rPr sz="1400" dirty="0"/>
              <a:t>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4F9C40-0870-746F-4F25-BDD9D20E5019}"/>
              </a:ext>
            </a:extLst>
          </p:cNvPr>
          <p:cNvSpPr txBox="1"/>
          <p:nvPr/>
        </p:nvSpPr>
        <p:spPr>
          <a:xfrm>
            <a:off x="914400" y="59436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2800" b="1">
                <a:solidFill>
                  <a:srgbClr val="1A1A1A"/>
                </a:solidFill>
                <a:latin typeface="Calibri"/>
              </a:defRPr>
            </a:pPr>
            <a:r>
              <a:rPr dirty="0"/>
              <a:t>End-to-End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DEB2B-092C-2655-50BF-F50277EDEF0B}"/>
              </a:ext>
            </a:extLst>
          </p:cNvPr>
          <p:cNvSpPr txBox="1"/>
          <p:nvPr/>
        </p:nvSpPr>
        <p:spPr>
          <a:xfrm>
            <a:off x="914400" y="114300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400" b="0">
                <a:solidFill>
                  <a:srgbClr val="555555"/>
                </a:solidFill>
                <a:latin typeface="Calibri"/>
              </a:defRPr>
            </a:pPr>
            <a:r>
              <a:rPr sz="2400" dirty="0"/>
              <a:t>Customer signals in, commercialization decisions out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F07B99-B8F3-EE47-AC61-7662E68C1183}"/>
              </a:ext>
            </a:extLst>
          </p:cNvPr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rPr dirty="0"/>
              <a:t>2 / 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AA26C8E-5DDD-446B-B265-8EA3A1D92417}"/>
              </a:ext>
            </a:extLst>
          </p:cNvPr>
          <p:cNvSpPr txBox="1"/>
          <p:nvPr/>
        </p:nvSpPr>
        <p:spPr>
          <a:xfrm>
            <a:off x="547007" y="2063882"/>
            <a:ext cx="3918857" cy="3504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1">
                <a:solidFill>
                  <a:srgbClr val="CA5010"/>
                </a:solidFill>
                <a:latin typeface="Calibri"/>
              </a:defRPr>
            </a:pPr>
            <a:r>
              <a:rPr sz="1600" dirty="0"/>
              <a:t>Phase 3: ML Pipeline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FE229F4-89DA-923A-B876-33E35EF5B5AE}"/>
              </a:ext>
            </a:extLst>
          </p:cNvPr>
          <p:cNvSpPr txBox="1"/>
          <p:nvPr/>
        </p:nvSpPr>
        <p:spPr>
          <a:xfrm>
            <a:off x="617220" y="4151785"/>
            <a:ext cx="3918857" cy="3504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1">
                <a:solidFill>
                  <a:srgbClr val="8764B8"/>
                </a:solidFill>
                <a:latin typeface="Calibri"/>
              </a:defRPr>
            </a:pPr>
            <a:r>
              <a:rPr sz="1600" dirty="0"/>
              <a:t>Phase 4: Explainability</a:t>
            </a:r>
          </a:p>
        </p:txBody>
      </p:sp>
      <p:sp>
        <p:nvSpPr>
          <p:cNvPr id="61" name="Rounded Rectangle 21">
            <a:extLst>
              <a:ext uri="{FF2B5EF4-FFF2-40B4-BE49-F238E27FC236}">
                <a16:creationId xmlns:a16="http://schemas.microsoft.com/office/drawing/2014/main" id="{2B2CE8A7-E281-02B9-58CD-3ECCB326088A}"/>
              </a:ext>
            </a:extLst>
          </p:cNvPr>
          <p:cNvSpPr/>
          <p:nvPr/>
        </p:nvSpPr>
        <p:spPr>
          <a:xfrm>
            <a:off x="617220" y="2435987"/>
            <a:ext cx="2743200" cy="993013"/>
          </a:xfrm>
          <a:prstGeom prst="roundRect">
            <a:avLst/>
          </a:prstGeom>
          <a:solidFill>
            <a:srgbClr val="CA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Layer 1: Weighted</a:t>
            </a:r>
            <a:br>
              <a:rPr sz="1400" dirty="0"/>
            </a:br>
            <a:r>
              <a:rPr sz="1400" dirty="0"/>
              <a:t>Baseline Scoring</a:t>
            </a:r>
          </a:p>
        </p:txBody>
      </p:sp>
      <p:sp>
        <p:nvSpPr>
          <p:cNvPr id="63" name="Right Arrow 22">
            <a:extLst>
              <a:ext uri="{FF2B5EF4-FFF2-40B4-BE49-F238E27FC236}">
                <a16:creationId xmlns:a16="http://schemas.microsoft.com/office/drawing/2014/main" id="{441DA7BA-A393-3F1A-66F3-04E591A2DC9B}"/>
              </a:ext>
            </a:extLst>
          </p:cNvPr>
          <p:cNvSpPr/>
          <p:nvPr/>
        </p:nvSpPr>
        <p:spPr>
          <a:xfrm>
            <a:off x="3384914" y="2721638"/>
            <a:ext cx="342900" cy="292063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5" name="Rounded Rectangle 23">
            <a:extLst>
              <a:ext uri="{FF2B5EF4-FFF2-40B4-BE49-F238E27FC236}">
                <a16:creationId xmlns:a16="http://schemas.microsoft.com/office/drawing/2014/main" id="{DDFEE95D-A47A-034D-FBFF-7F2BD9EEBBC9}"/>
              </a:ext>
            </a:extLst>
          </p:cNvPr>
          <p:cNvSpPr/>
          <p:nvPr/>
        </p:nvSpPr>
        <p:spPr>
          <a:xfrm>
            <a:off x="3796394" y="2493038"/>
            <a:ext cx="2743200" cy="993013"/>
          </a:xfrm>
          <a:prstGeom prst="roundRect">
            <a:avLst/>
          </a:prstGeom>
          <a:solidFill>
            <a:srgbClr val="CA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Layer 2: K-Means</a:t>
            </a:r>
            <a:br>
              <a:rPr sz="1400" dirty="0"/>
            </a:br>
            <a:r>
              <a:rPr sz="1400" dirty="0"/>
              <a:t>Clustering (k=4)</a:t>
            </a:r>
          </a:p>
        </p:txBody>
      </p:sp>
      <p:sp>
        <p:nvSpPr>
          <p:cNvPr id="67" name="Right Arrow 24">
            <a:extLst>
              <a:ext uri="{FF2B5EF4-FFF2-40B4-BE49-F238E27FC236}">
                <a16:creationId xmlns:a16="http://schemas.microsoft.com/office/drawing/2014/main" id="{DB5975FA-547F-65FD-D122-B8C9207BCE91}"/>
              </a:ext>
            </a:extLst>
          </p:cNvPr>
          <p:cNvSpPr/>
          <p:nvPr/>
        </p:nvSpPr>
        <p:spPr>
          <a:xfrm>
            <a:off x="6539594" y="2721638"/>
            <a:ext cx="342900" cy="292063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9" name="Rounded Rectangle 25">
            <a:extLst>
              <a:ext uri="{FF2B5EF4-FFF2-40B4-BE49-F238E27FC236}">
                <a16:creationId xmlns:a16="http://schemas.microsoft.com/office/drawing/2014/main" id="{7A5E5FAB-5797-C372-138B-B9ACD79CB420}"/>
              </a:ext>
            </a:extLst>
          </p:cNvPr>
          <p:cNvSpPr/>
          <p:nvPr/>
        </p:nvSpPr>
        <p:spPr>
          <a:xfrm>
            <a:off x="6951074" y="2493038"/>
            <a:ext cx="2743200" cy="993013"/>
          </a:xfrm>
          <a:prstGeom prst="roundRect">
            <a:avLst/>
          </a:prstGeom>
          <a:solidFill>
            <a:srgbClr val="CA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Layer 3: Random</a:t>
            </a:r>
            <a:br>
              <a:rPr sz="1400" dirty="0"/>
            </a:br>
            <a:r>
              <a:rPr sz="1400" dirty="0"/>
              <a:t>Forest (200 trees)</a:t>
            </a:r>
          </a:p>
        </p:txBody>
      </p:sp>
      <p:sp>
        <p:nvSpPr>
          <p:cNvPr id="71" name="Right Arrow 26">
            <a:extLst>
              <a:ext uri="{FF2B5EF4-FFF2-40B4-BE49-F238E27FC236}">
                <a16:creationId xmlns:a16="http://schemas.microsoft.com/office/drawing/2014/main" id="{904A19EA-D811-1F89-1B27-5613DAB49F98}"/>
              </a:ext>
            </a:extLst>
          </p:cNvPr>
          <p:cNvSpPr/>
          <p:nvPr/>
        </p:nvSpPr>
        <p:spPr>
          <a:xfrm>
            <a:off x="9694274" y="2721638"/>
            <a:ext cx="342900" cy="292063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3" name="Rounded Rectangle 27">
            <a:extLst>
              <a:ext uri="{FF2B5EF4-FFF2-40B4-BE49-F238E27FC236}">
                <a16:creationId xmlns:a16="http://schemas.microsoft.com/office/drawing/2014/main" id="{93359A2C-40B4-3FD7-74F0-E618191EDF53}"/>
              </a:ext>
            </a:extLst>
          </p:cNvPr>
          <p:cNvSpPr/>
          <p:nvPr/>
        </p:nvSpPr>
        <p:spPr>
          <a:xfrm>
            <a:off x="10105753" y="2493038"/>
            <a:ext cx="1469571" cy="993013"/>
          </a:xfrm>
          <a:prstGeom prst="roundRect">
            <a:avLst/>
          </a:prstGeom>
          <a:solidFill>
            <a:srgbClr val="CA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Blend</a:t>
            </a:r>
            <a:br>
              <a:rPr sz="1400" dirty="0"/>
            </a:br>
            <a:r>
              <a:rPr sz="1400" dirty="0"/>
              <a:t>70/30</a:t>
            </a:r>
          </a:p>
        </p:txBody>
      </p:sp>
      <p:sp>
        <p:nvSpPr>
          <p:cNvPr id="75" name="Rounded Rectangle 28">
            <a:extLst>
              <a:ext uri="{FF2B5EF4-FFF2-40B4-BE49-F238E27FC236}">
                <a16:creationId xmlns:a16="http://schemas.microsoft.com/office/drawing/2014/main" id="{A0F59DD6-91F0-2201-9878-DC8CF9E94B3C}"/>
              </a:ext>
            </a:extLst>
          </p:cNvPr>
          <p:cNvSpPr/>
          <p:nvPr/>
        </p:nvSpPr>
        <p:spPr>
          <a:xfrm>
            <a:off x="641713" y="4568182"/>
            <a:ext cx="2253343" cy="642538"/>
          </a:xfrm>
          <a:prstGeom prst="roundRect">
            <a:avLst/>
          </a:prstGeom>
          <a:solidFill>
            <a:srgbClr val="876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SHAP Values</a:t>
            </a:r>
          </a:p>
        </p:txBody>
      </p:sp>
      <p:sp>
        <p:nvSpPr>
          <p:cNvPr id="77" name="Right Arrow 29">
            <a:extLst>
              <a:ext uri="{FF2B5EF4-FFF2-40B4-BE49-F238E27FC236}">
                <a16:creationId xmlns:a16="http://schemas.microsoft.com/office/drawing/2014/main" id="{B170AA5D-783A-3489-F567-E0AE55B67541}"/>
              </a:ext>
            </a:extLst>
          </p:cNvPr>
          <p:cNvSpPr/>
          <p:nvPr/>
        </p:nvSpPr>
        <p:spPr>
          <a:xfrm>
            <a:off x="2927714" y="4659621"/>
            <a:ext cx="342900" cy="292063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9" name="Rounded Rectangle 30">
            <a:extLst>
              <a:ext uri="{FF2B5EF4-FFF2-40B4-BE49-F238E27FC236}">
                <a16:creationId xmlns:a16="http://schemas.microsoft.com/office/drawing/2014/main" id="{854170F8-C053-65D5-82F2-B92C11FC1F8E}"/>
              </a:ext>
            </a:extLst>
          </p:cNvPr>
          <p:cNvSpPr/>
          <p:nvPr/>
        </p:nvSpPr>
        <p:spPr>
          <a:xfrm>
            <a:off x="3339193" y="4568182"/>
            <a:ext cx="2253343" cy="642538"/>
          </a:xfrm>
          <a:prstGeom prst="roundRect">
            <a:avLst/>
          </a:prstGeom>
          <a:solidFill>
            <a:srgbClr val="876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Evidence </a:t>
            </a:r>
            <a:r>
              <a:rPr sz="1400" dirty="0" err="1"/>
              <a:t>Dict</a:t>
            </a:r>
            <a:endParaRPr sz="1400" dirty="0"/>
          </a:p>
        </p:txBody>
      </p:sp>
      <p:sp>
        <p:nvSpPr>
          <p:cNvPr id="81" name="Right Arrow 31">
            <a:extLst>
              <a:ext uri="{FF2B5EF4-FFF2-40B4-BE49-F238E27FC236}">
                <a16:creationId xmlns:a16="http://schemas.microsoft.com/office/drawing/2014/main" id="{719AD60D-2DF4-2180-FA06-B27C152F774F}"/>
              </a:ext>
            </a:extLst>
          </p:cNvPr>
          <p:cNvSpPr/>
          <p:nvPr/>
        </p:nvSpPr>
        <p:spPr>
          <a:xfrm>
            <a:off x="5625194" y="4659621"/>
            <a:ext cx="342900" cy="292063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32">
            <a:extLst>
              <a:ext uri="{FF2B5EF4-FFF2-40B4-BE49-F238E27FC236}">
                <a16:creationId xmlns:a16="http://schemas.microsoft.com/office/drawing/2014/main" id="{3A0C2271-D654-5864-A0DE-2A19D73B1B43}"/>
              </a:ext>
            </a:extLst>
          </p:cNvPr>
          <p:cNvSpPr/>
          <p:nvPr/>
        </p:nvSpPr>
        <p:spPr>
          <a:xfrm>
            <a:off x="6036673" y="4568182"/>
            <a:ext cx="2253343" cy="642538"/>
          </a:xfrm>
          <a:prstGeom prst="roundRect">
            <a:avLst/>
          </a:prstGeom>
          <a:solidFill>
            <a:srgbClr val="876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AI Narrative</a:t>
            </a:r>
          </a:p>
        </p:txBody>
      </p:sp>
      <p:sp>
        <p:nvSpPr>
          <p:cNvPr id="85" name="Right Arrow 33">
            <a:extLst>
              <a:ext uri="{FF2B5EF4-FFF2-40B4-BE49-F238E27FC236}">
                <a16:creationId xmlns:a16="http://schemas.microsoft.com/office/drawing/2014/main" id="{21BD9F41-7532-85D9-3D06-91823707431C}"/>
              </a:ext>
            </a:extLst>
          </p:cNvPr>
          <p:cNvSpPr/>
          <p:nvPr/>
        </p:nvSpPr>
        <p:spPr>
          <a:xfrm>
            <a:off x="8322674" y="4659621"/>
            <a:ext cx="342900" cy="292063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34">
            <a:extLst>
              <a:ext uri="{FF2B5EF4-FFF2-40B4-BE49-F238E27FC236}">
                <a16:creationId xmlns:a16="http://schemas.microsoft.com/office/drawing/2014/main" id="{AC4A329B-8DA5-4176-560B-C488B0335149}"/>
              </a:ext>
            </a:extLst>
          </p:cNvPr>
          <p:cNvSpPr/>
          <p:nvPr/>
        </p:nvSpPr>
        <p:spPr>
          <a:xfrm>
            <a:off x="8734154" y="4568182"/>
            <a:ext cx="2743200" cy="642538"/>
          </a:xfrm>
          <a:prstGeom prst="roundRect">
            <a:avLst/>
          </a:prstGeom>
          <a:solidFill>
            <a:srgbClr val="876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5 Outcomes per Concept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FFB2227-6F08-D5F0-42E0-A8A735B76A9A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27CF36C-E99B-CAB1-2A85-DF21E755778F}"/>
              </a:ext>
            </a:extLst>
          </p:cNvPr>
          <p:cNvSpPr/>
          <p:nvPr/>
        </p:nvSpPr>
        <p:spPr>
          <a:xfrm>
            <a:off x="647429" y="566448"/>
            <a:ext cx="11091672" cy="6350"/>
          </a:xfrm>
          <a:prstGeom prst="rect">
            <a:avLst/>
          </a:prstGeom>
          <a:solidFill>
            <a:srgbClr val="C4B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213F56E-FAE6-6AC4-53E3-BE3891306F0A}"/>
              </a:ext>
            </a:extLst>
          </p:cNvPr>
          <p:cNvSpPr txBox="1"/>
          <p:nvPr/>
        </p:nvSpPr>
        <p:spPr>
          <a:xfrm>
            <a:off x="587178" y="9096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1" i="0">
                <a:solidFill>
                  <a:srgbClr val="C86A1E"/>
                </a:solidFill>
                <a:latin typeface="Calibri"/>
              </a:defRPr>
            </a:pPr>
            <a:endParaRPr spc="2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AEFB904-66CA-FD18-51B0-314487BCB063}"/>
              </a:ext>
            </a:extLst>
          </p:cNvPr>
          <p:cNvSpPr txBox="1"/>
          <p:nvPr/>
        </p:nvSpPr>
        <p:spPr>
          <a:xfrm>
            <a:off x="10515600" y="22860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6B7080"/>
                </a:solidFill>
                <a:latin typeface="Calibri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744316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900" b="1">
                <a:solidFill>
                  <a:srgbClr val="0078D4"/>
                </a:solidFill>
                <a:latin typeface="Calibri"/>
              </a:defRPr>
            </a:pPr>
            <a:r>
              <a:rPr sz="1400" dirty="0"/>
              <a:t>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2800" b="1">
                <a:solidFill>
                  <a:srgbClr val="1A1A1A"/>
                </a:solidFill>
                <a:latin typeface="Calibri"/>
              </a:defRPr>
            </a:pPr>
            <a:r>
              <a:t>3 Algorithms, 3 Different Purposes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77340"/>
            <a:ext cx="3291840" cy="4114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200"/>
              <a:t>Layer 1: Weighted Baseline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25980"/>
            <a:ext cx="32918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100" b="1">
                <a:solidFill>
                  <a:srgbClr val="1A1A1A"/>
                </a:solidFill>
                <a:latin typeface="Calibri"/>
              </a:defRPr>
            </a:pPr>
            <a:r>
              <a:rPr sz="1200" dirty="0"/>
              <a:t>What: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200" dirty="0"/>
              <a:t>Linear combination of 10 weighted features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endParaRPr sz="1200" dirty="0"/>
          </a:p>
          <a:p>
            <a:pPr>
              <a:lnSpc>
                <a:spcPct val="140000"/>
              </a:lnSpc>
              <a:spcAft>
                <a:spcPts val="400"/>
              </a:spcAft>
              <a:defRPr sz="1100" b="1">
                <a:solidFill>
                  <a:srgbClr val="1A1A1A"/>
                </a:solidFill>
                <a:latin typeface="Calibri"/>
              </a:defRPr>
            </a:pPr>
            <a:r>
              <a:rPr sz="1200" dirty="0"/>
              <a:t>Formula: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0078D4"/>
                </a:solidFill>
                <a:latin typeface="Calibri"/>
              </a:defRPr>
            </a:pPr>
            <a:r>
              <a:rPr sz="1200" dirty="0"/>
              <a:t>raw = Σ(</a:t>
            </a:r>
            <a:r>
              <a:rPr sz="1200" dirty="0" err="1"/>
              <a:t>weight_i</a:t>
            </a:r>
            <a:r>
              <a:rPr sz="1200" dirty="0"/>
              <a:t> × </a:t>
            </a:r>
            <a:r>
              <a:rPr sz="1200" dirty="0" err="1"/>
              <a:t>feature_i</a:t>
            </a:r>
            <a:r>
              <a:rPr sz="1200" dirty="0"/>
              <a:t>)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0078D4"/>
                </a:solidFill>
                <a:latin typeface="Calibri"/>
              </a:defRPr>
            </a:pPr>
            <a:r>
              <a:rPr sz="1200" dirty="0"/>
              <a:t>readiness = (raw × 100).clip(1, 100)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endParaRPr sz="1200" dirty="0"/>
          </a:p>
          <a:p>
            <a:pPr>
              <a:lnSpc>
                <a:spcPct val="140000"/>
              </a:lnSpc>
              <a:spcAft>
                <a:spcPts val="400"/>
              </a:spcAft>
              <a:defRPr sz="1100" b="1">
                <a:solidFill>
                  <a:srgbClr val="1A1A1A"/>
                </a:solidFill>
                <a:latin typeface="Calibri"/>
              </a:defRPr>
            </a:pPr>
            <a:r>
              <a:rPr sz="1200" dirty="0"/>
              <a:t>Why this approach: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rPr sz="1200" dirty="0"/>
              <a:t>•  Interpretable baseline stakeholders can audit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rPr sz="1200" dirty="0"/>
              <a:t>•  demand + revenue = 0.18 each (highest)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rPr sz="1200" dirty="0"/>
              <a:t>•  engagement + repeatability = 0.13 each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577340"/>
            <a:ext cx="3291840" cy="4114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200"/>
              <a:t>Layer 2: K-Means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125980"/>
            <a:ext cx="32918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100" b="1">
                <a:solidFill>
                  <a:srgbClr val="1A1A1A"/>
                </a:solidFill>
                <a:latin typeface="Calibri"/>
              </a:defRPr>
            </a:pPr>
            <a:r>
              <a:rPr sz="1200"/>
              <a:t>What: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200"/>
              <a:t>Unsupervised grouping into 4 clusters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200"/>
              <a:t>5 behavioral features as input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endParaRPr sz="1200"/>
          </a:p>
          <a:p>
            <a:pPr>
              <a:lnSpc>
                <a:spcPct val="140000"/>
              </a:lnSpc>
              <a:spcAft>
                <a:spcPts val="400"/>
              </a:spcAft>
              <a:defRPr sz="1100" b="1">
                <a:solidFill>
                  <a:srgbClr val="1A1A1A"/>
                </a:solidFill>
                <a:latin typeface="Calibri"/>
              </a:defRPr>
            </a:pPr>
            <a:r>
              <a:rPr sz="1200"/>
              <a:t>Why this approach: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rPr sz="1200"/>
              <a:t>•  Reveals natural groupings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rPr sz="1200"/>
              <a:t>•  k=4 gives 2-4 concepts per cluster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rPr sz="1200"/>
              <a:t>•  Labels: 'High Demand / Low Effort'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rPr sz="1200"/>
              <a:t>•  StandardScaler before clustering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endParaRPr sz="1200"/>
          </a:p>
          <a:p>
            <a:pPr>
              <a:lnSpc>
                <a:spcPct val="140000"/>
              </a:lnSpc>
              <a:spcAft>
                <a:spcPts val="400"/>
              </a:spcAft>
              <a:defRPr sz="1100" b="1">
                <a:solidFill>
                  <a:srgbClr val="1A1A1A"/>
                </a:solidFill>
                <a:latin typeface="Calibri"/>
              </a:defRPr>
            </a:pPr>
            <a:r>
              <a:rPr sz="1200"/>
              <a:t>Purpose: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rPr sz="1200"/>
              <a:t>•  Compare similar concepts together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77340"/>
            <a:ext cx="3291840" cy="411480"/>
          </a:xfrm>
          <a:prstGeom prst="roundRect">
            <a:avLst/>
          </a:prstGeom>
          <a:solidFill>
            <a:srgbClr val="CA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200"/>
              <a:t>Layer 3: Random Forest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25980"/>
            <a:ext cx="329184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100" b="1">
                <a:solidFill>
                  <a:srgbClr val="1A1A1A"/>
                </a:solidFill>
                <a:latin typeface="Calibri"/>
              </a:defRPr>
            </a:pPr>
            <a:r>
              <a:rPr sz="1200"/>
              <a:t>What: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200"/>
              <a:t>Supervised classification into 5 outcomes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200"/>
              <a:t>200 trees, max_depth=4, balanced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endParaRPr sz="1200"/>
          </a:p>
          <a:p>
            <a:pPr>
              <a:lnSpc>
                <a:spcPct val="140000"/>
              </a:lnSpc>
              <a:spcAft>
                <a:spcPts val="400"/>
              </a:spcAft>
              <a:defRPr sz="1100" b="1">
                <a:solidFill>
                  <a:srgbClr val="1A1A1A"/>
                </a:solidFill>
                <a:latin typeface="Calibri"/>
              </a:defRPr>
            </a:pPr>
            <a:r>
              <a:rPr sz="1200"/>
              <a:t>Why Random Forest: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rPr sz="1200"/>
              <a:t>•  Handles small data (12 samples)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rPr sz="1200"/>
              <a:t>•  Exact SHAP values via TreeSHAP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rPr sz="1200"/>
              <a:t>•  Robust to hyperparameters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rPr sz="1200"/>
              <a:t>•  Built-in feature importance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endParaRPr sz="1200"/>
          </a:p>
          <a:p>
            <a:pPr>
              <a:lnSpc>
                <a:spcPct val="140000"/>
              </a:lnSpc>
              <a:spcAft>
                <a:spcPts val="400"/>
              </a:spcAft>
              <a:defRPr sz="1100" b="1">
                <a:solidFill>
                  <a:srgbClr val="1A1A1A"/>
                </a:solidFill>
                <a:latin typeface="Calibri"/>
              </a:defRPr>
            </a:pPr>
            <a:r>
              <a:rPr sz="1200"/>
              <a:t>Output: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rPr sz="1200"/>
              <a:t>•  predicted_outcome + class probabilities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3 / 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4AA9BD-5E66-D363-FA52-429C52FFF905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5D3EA7-22E7-AE95-BE79-7CFF29876DF4}"/>
              </a:ext>
            </a:extLst>
          </p:cNvPr>
          <p:cNvSpPr/>
          <p:nvPr/>
        </p:nvSpPr>
        <p:spPr>
          <a:xfrm>
            <a:off x="550011" y="594360"/>
            <a:ext cx="11091672" cy="6350"/>
          </a:xfrm>
          <a:prstGeom prst="rect">
            <a:avLst/>
          </a:prstGeom>
          <a:solidFill>
            <a:srgbClr val="C4B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357EFB-43E7-6A61-A235-F3805EE4F24C}"/>
              </a:ext>
            </a:extLst>
          </p:cNvPr>
          <p:cNvSpPr txBox="1"/>
          <p:nvPr/>
        </p:nvSpPr>
        <p:spPr>
          <a:xfrm>
            <a:off x="548640" y="228600"/>
            <a:ext cx="365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1" i="0">
                <a:solidFill>
                  <a:srgbClr val="C86A1E"/>
                </a:solidFill>
                <a:latin typeface="Calibri"/>
              </a:defRPr>
            </a:pPr>
            <a:endParaRPr spc="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227A5C-CBBA-BB49-3571-3A22340A4C83}"/>
              </a:ext>
            </a:extLst>
          </p:cNvPr>
          <p:cNvSpPr txBox="1"/>
          <p:nvPr/>
        </p:nvSpPr>
        <p:spPr>
          <a:xfrm>
            <a:off x="10515600" y="22860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6B7080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47EE3D-4BAD-FF5D-E894-578CB6AC4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92F215-0DFC-705B-45C3-5B8486464D37}"/>
              </a:ext>
            </a:extLst>
          </p:cNvPr>
          <p:cNvSpPr txBox="1"/>
          <p:nvPr/>
        </p:nvSpPr>
        <p:spPr>
          <a:xfrm>
            <a:off x="914400" y="3200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900" b="1">
                <a:solidFill>
                  <a:srgbClr val="0078D4"/>
                </a:solidFill>
                <a:latin typeface="Calibri"/>
              </a:defRPr>
            </a:pPr>
            <a:r>
              <a:rPr sz="1400" dirty="0"/>
              <a:t>ML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E575A2-7FBE-4F7B-9E28-8E68CCA03663}"/>
              </a:ext>
            </a:extLst>
          </p:cNvPr>
          <p:cNvSpPr txBox="1"/>
          <p:nvPr/>
        </p:nvSpPr>
        <p:spPr>
          <a:xfrm>
            <a:off x="914401" y="594360"/>
            <a:ext cx="10058400" cy="998466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defRPr sz="1300" b="1">
                <a:solidFill>
                  <a:srgbClr val="0078D4"/>
                </a:solidFill>
                <a:latin typeface="Calibri"/>
              </a:defRPr>
            </a:pPr>
            <a:r>
              <a:rPr lang="en-IN" sz="4000" dirty="0"/>
              <a:t>Why Not Other Methods?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6CDD24-70DC-A3D9-74B1-FD809D6264D8}"/>
              </a:ext>
            </a:extLst>
          </p:cNvPr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3 / 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CF69F5-3BC4-06A0-C0E8-ECFDFE43950C}"/>
              </a:ext>
            </a:extLst>
          </p:cNvPr>
          <p:cNvSpPr/>
          <p:nvPr/>
        </p:nvSpPr>
        <p:spPr>
          <a:xfrm>
            <a:off x="746760" y="3589020"/>
            <a:ext cx="103628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39BE78-8575-4E6A-5D2F-168DD94C37D9}"/>
              </a:ext>
            </a:extLst>
          </p:cNvPr>
          <p:cNvSpPr txBox="1"/>
          <p:nvPr/>
        </p:nvSpPr>
        <p:spPr>
          <a:xfrm>
            <a:off x="746760" y="1897380"/>
            <a:ext cx="103628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0078D4"/>
                </a:solidFill>
                <a:latin typeface="Calibri"/>
              </a:defRPr>
            </a:pPr>
            <a:endParaRPr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250B0D6-2DBE-FC47-CEAA-B15F0CD8E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102832"/>
              </p:ext>
            </p:extLst>
          </p:nvPr>
        </p:nvGraphicFramePr>
        <p:xfrm>
          <a:off x="746759" y="1592826"/>
          <a:ext cx="10058400" cy="3848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9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0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8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9702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Method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Reason Against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/>
                        <a:t>Why RF Was Chosen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70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sz="1400"/>
                        <a:t>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sz="1400"/>
                        <a:t>12 samples too few for neural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sz="1400"/>
                        <a:t>RF handles small data natively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70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sz="1400"/>
                        <a:t>XGBoost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sz="1400"/>
                        <a:t>Gradient boosting overfits on small data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sz="1400"/>
                        <a:t>RF is more robust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970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sz="1400"/>
                        <a:t>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sz="1400"/>
                        <a:t>Decisions are categorical, not 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sz="1400"/>
                        <a:t>Classification is 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970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sz="1400" dirty="0"/>
                        <a:t>Rule-based only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sz="1400"/>
                        <a:t>Assignment requires ML technique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sz="1400" dirty="0"/>
                        <a:t>RF + rules = hybrid approach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63A1E402-DD28-C2B4-E7F6-A73B507DC5A6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C0753F-B3DF-ABC1-5B35-67EF9FE415AE}"/>
              </a:ext>
            </a:extLst>
          </p:cNvPr>
          <p:cNvSpPr/>
          <p:nvPr/>
        </p:nvSpPr>
        <p:spPr>
          <a:xfrm>
            <a:off x="550011" y="631440"/>
            <a:ext cx="11091672" cy="6350"/>
          </a:xfrm>
          <a:prstGeom prst="rect">
            <a:avLst/>
          </a:prstGeom>
          <a:solidFill>
            <a:srgbClr val="C4B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C3136E-F08C-3733-533A-E062820E33BA}"/>
              </a:ext>
            </a:extLst>
          </p:cNvPr>
          <p:cNvSpPr txBox="1"/>
          <p:nvPr/>
        </p:nvSpPr>
        <p:spPr>
          <a:xfrm>
            <a:off x="548640" y="22860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1" i="0">
                <a:solidFill>
                  <a:srgbClr val="C86A1E"/>
                </a:solidFill>
                <a:latin typeface="Calibri"/>
              </a:defRPr>
            </a:pPr>
            <a:endParaRPr spc="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F923DD-47AB-E102-19B8-07E305BDFA88}"/>
              </a:ext>
            </a:extLst>
          </p:cNvPr>
          <p:cNvSpPr txBox="1"/>
          <p:nvPr/>
        </p:nvSpPr>
        <p:spPr>
          <a:xfrm>
            <a:off x="10515600" y="22860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6B7080"/>
                </a:solidFill>
                <a:latin typeface="Calibri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533567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200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900" b="1">
                <a:solidFill>
                  <a:srgbClr val="0078D4"/>
                </a:solidFill>
                <a:latin typeface="Calibri"/>
              </a:defRPr>
            </a:pPr>
            <a:r>
              <a:rPr sz="1400" dirty="0"/>
              <a:t>DECISION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2800" b="1">
                <a:solidFill>
                  <a:srgbClr val="1A1A1A"/>
                </a:solidFill>
                <a:latin typeface="Calibri"/>
              </a:defRPr>
            </a:pPr>
            <a:r>
              <a:t>How Outcomes Are Decided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0078D4"/>
                </a:solidFill>
                <a:latin typeface="Calibri"/>
              </a:defRPr>
            </a:pPr>
            <a:r>
              <a:rPr sz="1400" dirty="0"/>
              <a:t>Readiness Score (0-100)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30337"/>
            <a:ext cx="5029200" cy="1711325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500"/>
              </a:spcAft>
              <a:defRPr sz="1100" b="0">
                <a:solidFill>
                  <a:srgbClr val="0078D4"/>
                </a:solidFill>
                <a:latin typeface="Calibri"/>
              </a:defRPr>
            </a:pPr>
            <a:r>
              <a:rPr sz="1200" dirty="0"/>
              <a:t>readiness = baseline × 0.70 + </a:t>
            </a:r>
            <a:r>
              <a:rPr sz="1200" dirty="0" err="1"/>
              <a:t>ml_confidence</a:t>
            </a:r>
            <a:r>
              <a:rPr sz="1200" dirty="0"/>
              <a:t> × 30</a:t>
            </a:r>
          </a:p>
          <a:p>
            <a:pPr>
              <a:lnSpc>
                <a:spcPct val="140000"/>
              </a:lnSpc>
              <a:spcAft>
                <a:spcPts val="5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endParaRPr sz="1200" dirty="0"/>
          </a:p>
          <a:p>
            <a:pPr>
              <a:lnSpc>
                <a:spcPct val="140000"/>
              </a:lnSpc>
              <a:spcAft>
                <a:spcPts val="5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200" dirty="0"/>
              <a:t>•  Baseline: weighted linear score (interpretable)</a:t>
            </a:r>
          </a:p>
          <a:p>
            <a:pPr>
              <a:lnSpc>
                <a:spcPct val="140000"/>
              </a:lnSpc>
              <a:spcAft>
                <a:spcPts val="5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200" dirty="0"/>
              <a:t>•  ML confidence: max RF class probability</a:t>
            </a:r>
          </a:p>
          <a:p>
            <a:pPr>
              <a:lnSpc>
                <a:spcPct val="140000"/>
              </a:lnSpc>
              <a:spcAft>
                <a:spcPts val="5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200" dirty="0"/>
              <a:t>•  70/30: baseline more trustworthy (synthetic labels)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69035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0078D4"/>
                </a:solidFill>
                <a:latin typeface="Calibri"/>
              </a:defRPr>
            </a:pPr>
            <a:r>
              <a:rPr sz="1400" dirty="0"/>
              <a:t>Confidence Score (0-1)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20116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500"/>
              </a:spcAft>
              <a:defRPr sz="1100" b="0">
                <a:solidFill>
                  <a:srgbClr val="0078D4"/>
                </a:solidFill>
                <a:latin typeface="Calibri"/>
              </a:defRPr>
            </a:pPr>
            <a:r>
              <a:rPr sz="1200" dirty="0"/>
              <a:t>confidence = data × 0.55 + </a:t>
            </a:r>
            <a:r>
              <a:rPr sz="1200" dirty="0" err="1"/>
              <a:t>ml_certainty</a:t>
            </a:r>
            <a:r>
              <a:rPr sz="1200" dirty="0"/>
              <a:t> × 0.45</a:t>
            </a:r>
          </a:p>
          <a:p>
            <a:pPr>
              <a:lnSpc>
                <a:spcPct val="140000"/>
              </a:lnSpc>
              <a:spcAft>
                <a:spcPts val="5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endParaRPr sz="1200" dirty="0"/>
          </a:p>
          <a:p>
            <a:pPr>
              <a:lnSpc>
                <a:spcPct val="140000"/>
              </a:lnSpc>
              <a:spcAft>
                <a:spcPts val="5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200" dirty="0"/>
              <a:t>•  Data confidence: volume × 0.65 + completeness × 0.35</a:t>
            </a:r>
          </a:p>
          <a:p>
            <a:pPr>
              <a:lnSpc>
                <a:spcPct val="140000"/>
              </a:lnSpc>
              <a:spcAft>
                <a:spcPts val="5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200" dirty="0"/>
              <a:t>•  ML certainty: max RF class probability</a:t>
            </a:r>
          </a:p>
          <a:p>
            <a:pPr>
              <a:lnSpc>
                <a:spcPct val="140000"/>
              </a:lnSpc>
              <a:spcAft>
                <a:spcPts val="5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200" dirty="0"/>
              <a:t>•  Tells how much to trust the 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03628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0078D4"/>
                </a:solidFill>
                <a:latin typeface="Calibri"/>
              </a:defRPr>
            </a:pPr>
            <a:r>
              <a:rPr dirty="0"/>
              <a:t>Training Labels (Rule-Based Pseudo-Labels)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356616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82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demand &lt; 0.22 AND revenue &lt; 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 market pull + no financial viability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risk &gt; 0.58 AND demand &lt; 0.40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Archive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Too hard + insufficient demand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demand ≥ 0.45 AND repeat ≥ 0.30 AND segments ≥ 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Reusable 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Strong + repeatable + cross-segment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demand ≥ 0.42 AND follow_up ≥ 0.35 AND pilot ≥ 0.35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Customer Pilot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Demand + intent + manageable risk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demand ≥ 0.45 AND engagement ≥ 0.35 AND revenue ≥ 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MVP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Strong across all dimensions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388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dirty="0"/>
                        <a:t>default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Incubate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rPr dirty="0"/>
                        <a:t>Doesn't meet thresholds for any outcome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5760720"/>
            <a:ext cx="103628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0078D4"/>
                </a:solidFill>
                <a:latin typeface="Calibri"/>
              </a:defRPr>
            </a:pPr>
            <a:r>
              <a:t>5 Commercial Outcomes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6126480"/>
            <a:ext cx="2011680" cy="36576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MVP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6126480"/>
            <a:ext cx="201168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Customer 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6126480"/>
            <a:ext cx="2011680" cy="365760"/>
          </a:xfrm>
          <a:prstGeom prst="roundRect">
            <a:avLst/>
          </a:prstGeom>
          <a:solidFill>
            <a:srgbClr val="876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Reusable Asset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6126480"/>
            <a:ext cx="2011680" cy="365760"/>
          </a:xfrm>
          <a:prstGeom prst="roundRect">
            <a:avLst/>
          </a:prstGeom>
          <a:solidFill>
            <a:srgbClr val="CA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Incubate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6126480"/>
            <a:ext cx="2011680" cy="36576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Archive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t>4 / 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96803B-DD87-D153-B8EF-E355A8B994E9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FB4868-F0BE-6551-61C5-A95E464CA4C8}"/>
              </a:ext>
            </a:extLst>
          </p:cNvPr>
          <p:cNvSpPr/>
          <p:nvPr/>
        </p:nvSpPr>
        <p:spPr>
          <a:xfrm>
            <a:off x="550011" y="614045"/>
            <a:ext cx="11091672" cy="6350"/>
          </a:xfrm>
          <a:prstGeom prst="rect">
            <a:avLst/>
          </a:prstGeom>
          <a:solidFill>
            <a:srgbClr val="C4B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07ECD3-8934-434B-66FD-810515B44DB2}"/>
              </a:ext>
            </a:extLst>
          </p:cNvPr>
          <p:cNvSpPr txBox="1"/>
          <p:nvPr/>
        </p:nvSpPr>
        <p:spPr>
          <a:xfrm>
            <a:off x="555910" y="140335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1" i="0">
                <a:solidFill>
                  <a:srgbClr val="C86A1E"/>
                </a:solidFill>
                <a:latin typeface="Calibri"/>
              </a:defRPr>
            </a:pPr>
            <a:endParaRPr spc="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BCAFF-27CC-40A7-BB44-E6D6E90F7C8F}"/>
              </a:ext>
            </a:extLst>
          </p:cNvPr>
          <p:cNvSpPr txBox="1"/>
          <p:nvPr/>
        </p:nvSpPr>
        <p:spPr>
          <a:xfrm>
            <a:off x="10515600" y="22860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6B7080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1832" y="30175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900" b="1">
                <a:solidFill>
                  <a:srgbClr val="0078D4"/>
                </a:solidFill>
                <a:latin typeface="Calibri"/>
              </a:defRPr>
            </a:pPr>
            <a:r>
              <a:rPr sz="1400" dirty="0"/>
              <a:t>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2800" b="1">
                <a:solidFill>
                  <a:srgbClr val="1A1A1A"/>
                </a:solidFill>
                <a:latin typeface="Calibri"/>
              </a:defRPr>
            </a:pPr>
            <a:r>
              <a:rPr dirty="0"/>
              <a:t>SHAP → Evidence →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399" y="1278382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400" b="0">
                <a:solidFill>
                  <a:srgbClr val="555555"/>
                </a:solidFill>
                <a:latin typeface="Calibri"/>
              </a:defRPr>
            </a:pPr>
            <a:r>
              <a:rPr lang="en-US" sz="1600" dirty="0"/>
              <a:t>ML produces numbers. AI produces business-readable recommendations.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46520"/>
            <a:ext cx="103628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042219" y="2039456"/>
            <a:ext cx="54864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16539" y="2039456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0078D4"/>
                </a:solidFill>
                <a:latin typeface="Calibri"/>
              </a:defRPr>
            </a:pPr>
            <a:r>
              <a:rPr dirty="0"/>
              <a:t>1. Feature Importance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539" y="229548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 dirty="0"/>
              <a:t>Global: which features matter most across portfolio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2219" y="2725256"/>
            <a:ext cx="54864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316539" y="2725256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107C10"/>
                </a:solidFill>
                <a:latin typeface="Calibri"/>
              </a:defRPr>
            </a:pPr>
            <a:r>
              <a:rPr dirty="0"/>
              <a:t>2. SHAP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539" y="298128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 dirty="0"/>
              <a:t>Per-concept: each feature's contribution to the prediction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219" y="3411056"/>
            <a:ext cx="54864" cy="457200"/>
          </a:xfrm>
          <a:prstGeom prst="rect">
            <a:avLst/>
          </a:prstGeom>
          <a:solidFill>
            <a:srgbClr val="CA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316539" y="3411056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CA5010"/>
                </a:solidFill>
                <a:latin typeface="Calibri"/>
              </a:defRPr>
            </a:pPr>
            <a:r>
              <a:rPr dirty="0"/>
              <a:t>3. Structured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539" y="366708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 dirty="0"/>
              <a:t>Human-readable: feature labels, values, magnitude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2219" y="4096856"/>
            <a:ext cx="54864" cy="457200"/>
          </a:xfrm>
          <a:prstGeom prst="rect">
            <a:avLst/>
          </a:prstGeom>
          <a:solidFill>
            <a:srgbClr val="876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316539" y="4096856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8764B8"/>
                </a:solidFill>
                <a:latin typeface="Calibri"/>
              </a:defRPr>
            </a:pPr>
            <a:r>
              <a:rPr dirty="0"/>
              <a:t>4. AI Narrative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539" y="435288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rPr dirty="0"/>
              <a:t>Natural language: executive summary per concept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4827" y="18059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0078D4"/>
                </a:solidFill>
                <a:latin typeface="Calibri"/>
              </a:defRPr>
            </a:pPr>
            <a:r>
              <a:rPr sz="1400" dirty="0"/>
              <a:t>ML vs AI in This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2495" y="229235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400" dirty="0"/>
              <a:t>•  ML: scoring, clustering, classification, SHAP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rPr sz="1400" dirty="0"/>
              <a:t>     (quantitative analysis)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endParaRPr sz="1400" dirty="0"/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rPr sz="1400" dirty="0"/>
              <a:t>•  AI: evidence translation, narrative generation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rPr sz="1400" dirty="0"/>
              <a:t>     (qualitative reasoning)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endParaRPr sz="1400" dirty="0"/>
          </a:p>
          <a:p>
            <a:pPr>
              <a:lnSpc>
                <a:spcPct val="140000"/>
              </a:lnSpc>
              <a:spcAft>
                <a:spcPts val="400"/>
              </a:spcAft>
              <a:defRPr sz="1100" b="1">
                <a:solidFill>
                  <a:srgbClr val="0078D4"/>
                </a:solidFill>
                <a:latin typeface="Calibri"/>
              </a:defRPr>
            </a:pPr>
            <a:r>
              <a:rPr sz="1400" dirty="0"/>
              <a:t>ML produces the evidence. AI produces the explanation.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rPr dirty="0"/>
              <a:t>5 / 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62694E-D0EC-A3A0-800D-C83DB68828EC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C3D6FA-2C8C-B40A-65B0-11D3BBAAFA26}"/>
              </a:ext>
            </a:extLst>
          </p:cNvPr>
          <p:cNvSpPr/>
          <p:nvPr/>
        </p:nvSpPr>
        <p:spPr>
          <a:xfrm>
            <a:off x="672084" y="594360"/>
            <a:ext cx="11091672" cy="6350"/>
          </a:xfrm>
          <a:prstGeom prst="rect">
            <a:avLst/>
          </a:prstGeom>
          <a:solidFill>
            <a:srgbClr val="C4B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B9C1E9-CB92-723E-7FF5-4C77C434C52B}"/>
              </a:ext>
            </a:extLst>
          </p:cNvPr>
          <p:cNvSpPr txBox="1"/>
          <p:nvPr/>
        </p:nvSpPr>
        <p:spPr>
          <a:xfrm>
            <a:off x="10515600" y="22860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6B7080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43920" y="2682708"/>
            <a:ext cx="10755880" cy="22093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4200" b="1">
                <a:solidFill>
                  <a:srgbClr val="1A1A1A"/>
                </a:solidFill>
                <a:latin typeface="Calibri"/>
              </a:defRPr>
            </a:pPr>
            <a:r>
              <a:rPr sz="7200" i="1" dirty="0"/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2890" y="593725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2200" b="1">
                <a:solidFill>
                  <a:srgbClr val="1A1A1A"/>
                </a:solidFill>
                <a:latin typeface="Calibri"/>
              </a:defRPr>
            </a:pP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900" b="0">
                <a:solidFill>
                  <a:srgbClr val="999999"/>
                </a:solidFill>
                <a:latin typeface="Calibri"/>
              </a:defRPr>
            </a:pPr>
            <a:r>
              <a:rPr dirty="0"/>
              <a:t>7 / 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522A09-EB3D-AE0C-7B81-427A67F52034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C5625A-74E9-ABC8-2850-B01596898C42}"/>
              </a:ext>
            </a:extLst>
          </p:cNvPr>
          <p:cNvSpPr/>
          <p:nvPr/>
        </p:nvSpPr>
        <p:spPr>
          <a:xfrm>
            <a:off x="548640" y="457200"/>
            <a:ext cx="11091672" cy="6350"/>
          </a:xfrm>
          <a:prstGeom prst="rect">
            <a:avLst/>
          </a:prstGeom>
          <a:solidFill>
            <a:srgbClr val="C4B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561E5E-B667-F623-42E7-4F4736D0FB0F}"/>
              </a:ext>
            </a:extLst>
          </p:cNvPr>
          <p:cNvSpPr txBox="1"/>
          <p:nvPr/>
        </p:nvSpPr>
        <p:spPr>
          <a:xfrm>
            <a:off x="548640" y="22860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1" i="0">
                <a:solidFill>
                  <a:srgbClr val="C86A1E"/>
                </a:solidFill>
                <a:latin typeface="Calibri"/>
              </a:defRPr>
            </a:pPr>
            <a:endParaRPr spc="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8DF53C-D939-8ECD-EFBE-34D7998B080A}"/>
              </a:ext>
            </a:extLst>
          </p:cNvPr>
          <p:cNvSpPr txBox="1"/>
          <p:nvPr/>
        </p:nvSpPr>
        <p:spPr>
          <a:xfrm>
            <a:off x="10515600" y="22860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6B7080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916</Words>
  <Application>Microsoft Office PowerPoint</Application>
  <PresentationFormat>Widescreen</PresentationFormat>
  <Paragraphs>209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Prashant Patil</cp:lastModifiedBy>
  <cp:revision>6</cp:revision>
  <dcterms:created xsi:type="dcterms:W3CDTF">2013-01-27T09:14:16Z</dcterms:created>
  <dcterms:modified xsi:type="dcterms:W3CDTF">2026-07-12T15:25:49Z</dcterms:modified>
  <cp:category/>
</cp:coreProperties>
</file>